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0" y="0"/>
            <a:ext cx="12191695" cy="54864"/>
          </a:xfrm>
          <a:prstGeom prst="round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144000" cy="914400"/>
          </a:xfrm>
          <a:prstGeom prst="rect">
            <a:avLst/>
          </a:prstGeom>
          <a:noFill/>
        </p:spPr>
        <p:txBody>
          <a:bodyPr wrap="square">
            <a:spAutoFit/>
          </a:bodyPr>
          <a:lstStyle/>
          <a:p>
            <a:pPr algn="ctr">
              <a:defRPr sz="4400" b="1">
                <a:solidFill>
                  <a:srgbClr val="FFFFFF"/>
                </a:solidFill>
                <a:latin typeface="Calibri"/>
              </a:defRPr>
            </a:pPr>
            <a:r>
              <a:t>🎬 Movie Recommendation System</a:t>
            </a:r>
          </a:p>
        </p:txBody>
      </p:sp>
      <p:sp>
        <p:nvSpPr>
          <p:cNvPr id="4" name="Rectangle 3"/>
          <p:cNvSpPr/>
          <p:nvPr/>
        </p:nvSpPr>
        <p:spPr>
          <a:xfrm>
            <a:off x="4114800" y="2651760"/>
            <a:ext cx="3931920" cy="508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2926080"/>
            <a:ext cx="8229600" cy="640080"/>
          </a:xfrm>
          <a:prstGeom prst="rect">
            <a:avLst/>
          </a:prstGeom>
          <a:noFill/>
        </p:spPr>
        <p:txBody>
          <a:bodyPr wrap="square">
            <a:spAutoFit/>
          </a:bodyPr>
          <a:lstStyle/>
          <a:p>
            <a:pPr algn="ctr">
              <a:defRPr sz="2200" b="0">
                <a:solidFill>
                  <a:srgbClr val="38BDF8"/>
                </a:solidFill>
                <a:latin typeface="Calibri"/>
              </a:defRPr>
            </a:pPr>
            <a:r>
              <a:t>A Hybrid Recommendation Engine with Interactive Visualizations</a:t>
            </a:r>
          </a:p>
        </p:txBody>
      </p:sp>
      <p:sp>
        <p:nvSpPr>
          <p:cNvPr id="6" name="Rounded Rectangle 5"/>
          <p:cNvSpPr/>
          <p:nvPr/>
        </p:nvSpPr>
        <p:spPr>
          <a:xfrm>
            <a:off x="1706727" y="3931920"/>
            <a:ext cx="1645920" cy="457200"/>
          </a:xfrm>
          <a:prstGeom prst="roundRect">
            <a:avLst/>
          </a:prstGeom>
          <a:solidFill>
            <a:srgbClr val="1A253C"/>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706727" y="3959352"/>
            <a:ext cx="1645920" cy="457200"/>
          </a:xfrm>
          <a:prstGeom prst="rect">
            <a:avLst/>
          </a:prstGeom>
          <a:noFill/>
        </p:spPr>
        <p:txBody>
          <a:bodyPr wrap="square">
            <a:spAutoFit/>
          </a:bodyPr>
          <a:lstStyle/>
          <a:p>
            <a:pPr algn="ctr">
              <a:defRPr sz="1200" b="1">
                <a:solidFill>
                  <a:srgbClr val="38BDF8"/>
                </a:solidFill>
                <a:latin typeface="Calibri"/>
              </a:defRPr>
            </a:pPr>
            <a:r>
              <a:t>React + Vite</a:t>
            </a:r>
          </a:p>
        </p:txBody>
      </p:sp>
      <p:sp>
        <p:nvSpPr>
          <p:cNvPr id="8" name="Rounded Rectangle 7"/>
          <p:cNvSpPr/>
          <p:nvPr/>
        </p:nvSpPr>
        <p:spPr>
          <a:xfrm>
            <a:off x="3489807" y="3931920"/>
            <a:ext cx="1645920" cy="457200"/>
          </a:xfrm>
          <a:prstGeom prst="roundRect">
            <a:avLst/>
          </a:prstGeom>
          <a:solidFill>
            <a:srgbClr val="1A253C"/>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89807" y="3959352"/>
            <a:ext cx="1645920" cy="457200"/>
          </a:xfrm>
          <a:prstGeom prst="rect">
            <a:avLst/>
          </a:prstGeom>
          <a:noFill/>
        </p:spPr>
        <p:txBody>
          <a:bodyPr wrap="square">
            <a:spAutoFit/>
          </a:bodyPr>
          <a:lstStyle/>
          <a:p>
            <a:pPr algn="ctr">
              <a:defRPr sz="1200" b="1">
                <a:solidFill>
                  <a:srgbClr val="34D399"/>
                </a:solidFill>
                <a:latin typeface="Calibri"/>
              </a:defRPr>
            </a:pPr>
            <a:r>
              <a:t>FastAPI</a:t>
            </a:r>
          </a:p>
        </p:txBody>
      </p:sp>
      <p:sp>
        <p:nvSpPr>
          <p:cNvPr id="10" name="Rounded Rectangle 9"/>
          <p:cNvSpPr/>
          <p:nvPr/>
        </p:nvSpPr>
        <p:spPr>
          <a:xfrm>
            <a:off x="5272887" y="3931920"/>
            <a:ext cx="1645920" cy="457200"/>
          </a:xfrm>
          <a:prstGeom prst="roundRect">
            <a:avLst/>
          </a:prstGeom>
          <a:solidFill>
            <a:srgbClr val="1A253C"/>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72887" y="3959352"/>
            <a:ext cx="1645920" cy="457200"/>
          </a:xfrm>
          <a:prstGeom prst="rect">
            <a:avLst/>
          </a:prstGeom>
          <a:noFill/>
        </p:spPr>
        <p:txBody>
          <a:bodyPr wrap="square">
            <a:spAutoFit/>
          </a:bodyPr>
          <a:lstStyle/>
          <a:p>
            <a:pPr algn="ctr">
              <a:defRPr sz="1200" b="1">
                <a:solidFill>
                  <a:srgbClr val="A78BFA"/>
                </a:solidFill>
                <a:latin typeface="Calibri"/>
              </a:defRPr>
            </a:pPr>
            <a:r>
              <a:t>Scikit-learn</a:t>
            </a:r>
          </a:p>
        </p:txBody>
      </p:sp>
      <p:sp>
        <p:nvSpPr>
          <p:cNvPr id="12" name="Rounded Rectangle 11"/>
          <p:cNvSpPr/>
          <p:nvPr/>
        </p:nvSpPr>
        <p:spPr>
          <a:xfrm>
            <a:off x="7055967" y="3931920"/>
            <a:ext cx="1645920" cy="457200"/>
          </a:xfrm>
          <a:prstGeom prst="roundRect">
            <a:avLst/>
          </a:prstGeom>
          <a:solidFill>
            <a:srgbClr val="1A253C"/>
          </a:solidFill>
          <a:ln w="12700">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55967" y="3959352"/>
            <a:ext cx="1645920" cy="457200"/>
          </a:xfrm>
          <a:prstGeom prst="rect">
            <a:avLst/>
          </a:prstGeom>
          <a:noFill/>
        </p:spPr>
        <p:txBody>
          <a:bodyPr wrap="square">
            <a:spAutoFit/>
          </a:bodyPr>
          <a:lstStyle/>
          <a:p>
            <a:pPr algn="ctr">
              <a:defRPr sz="1200" b="1">
                <a:solidFill>
                  <a:srgbClr val="FBBF24"/>
                </a:solidFill>
                <a:latin typeface="Calibri"/>
              </a:defRPr>
            </a:pPr>
            <a:r>
              <a:t>D3.js</a:t>
            </a:r>
          </a:p>
        </p:txBody>
      </p:sp>
      <p:sp>
        <p:nvSpPr>
          <p:cNvPr id="14" name="Rounded Rectangle 13"/>
          <p:cNvSpPr/>
          <p:nvPr/>
        </p:nvSpPr>
        <p:spPr>
          <a:xfrm>
            <a:off x="8839047" y="3931920"/>
            <a:ext cx="1645920" cy="457200"/>
          </a:xfrm>
          <a:prstGeom prst="roundRect">
            <a:avLst/>
          </a:prstGeom>
          <a:solidFill>
            <a:srgbClr val="1A253C"/>
          </a:solidFill>
          <a:ln w="12700">
            <a:solidFill>
              <a:srgbClr val="FB71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39047" y="3959352"/>
            <a:ext cx="1645920" cy="457200"/>
          </a:xfrm>
          <a:prstGeom prst="rect">
            <a:avLst/>
          </a:prstGeom>
          <a:noFill/>
        </p:spPr>
        <p:txBody>
          <a:bodyPr wrap="square">
            <a:spAutoFit/>
          </a:bodyPr>
          <a:lstStyle/>
          <a:p>
            <a:pPr algn="ctr">
              <a:defRPr sz="1200" b="1">
                <a:solidFill>
                  <a:srgbClr val="FB7185"/>
                </a:solidFill>
                <a:latin typeface="Calibri"/>
              </a:defRPr>
            </a:pPr>
            <a:r>
              <a:t>Tailwind CSS</a:t>
            </a:r>
          </a:p>
        </p:txBody>
      </p:sp>
      <p:sp>
        <p:nvSpPr>
          <p:cNvPr id="16" name="TextBox 15"/>
          <p:cNvSpPr txBox="1"/>
          <p:nvPr/>
        </p:nvSpPr>
        <p:spPr>
          <a:xfrm>
            <a:off x="1828800" y="5029200"/>
            <a:ext cx="8229600" cy="457200"/>
          </a:xfrm>
          <a:prstGeom prst="rect">
            <a:avLst/>
          </a:prstGeom>
          <a:noFill/>
        </p:spPr>
        <p:txBody>
          <a:bodyPr wrap="square">
            <a:spAutoFit/>
          </a:bodyPr>
          <a:lstStyle/>
          <a:p>
            <a:pPr algn="ctr">
              <a:defRPr sz="1600" b="0">
                <a:solidFill>
                  <a:srgbClr val="94A3B8"/>
                </a:solidFill>
                <a:latin typeface="Calibri"/>
              </a:defRPr>
            </a:pPr>
            <a:r>
              <a:t>Group Project  •  April 2026</a:t>
            </a:r>
          </a:p>
        </p:txBody>
      </p:sp>
      <p:sp>
        <p:nvSpPr>
          <p:cNvPr id="17" name="Rounded Rectangle 16"/>
          <p:cNvSpPr/>
          <p:nvPr/>
        </p:nvSpPr>
        <p:spPr>
          <a:xfrm>
            <a:off x="0" y="6803136"/>
            <a:ext cx="12191695" cy="54864"/>
          </a:xfrm>
          <a:prstGeom prst="round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7315200" cy="640080"/>
          </a:xfrm>
          <a:prstGeom prst="rect">
            <a:avLst/>
          </a:prstGeom>
          <a:noFill/>
        </p:spPr>
        <p:txBody>
          <a:bodyPr wrap="square">
            <a:spAutoFit/>
          </a:bodyPr>
          <a:lstStyle/>
          <a:p>
            <a:pPr algn="l">
              <a:defRPr sz="3600" b="1">
                <a:solidFill>
                  <a:srgbClr val="FFFFFF"/>
                </a:solidFill>
                <a:latin typeface="Calibri"/>
              </a:defRPr>
            </a:pPr>
            <a:r>
              <a:t>📑 Table of Contents</a:t>
            </a:r>
          </a:p>
        </p:txBody>
      </p:sp>
      <p:sp>
        <p:nvSpPr>
          <p:cNvPr id="3" name="Rectangle 2"/>
          <p:cNvSpPr/>
          <p:nvPr/>
        </p:nvSpPr>
        <p:spPr>
          <a:xfrm>
            <a:off x="731520" y="1097280"/>
            <a:ext cx="2743200" cy="381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502920" cy="502920"/>
          </a:xfrm>
          <a:prstGeom prst="round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00200"/>
            <a:ext cx="502920" cy="411480"/>
          </a:xfrm>
          <a:prstGeom prst="rect">
            <a:avLst/>
          </a:prstGeom>
          <a:noFill/>
        </p:spPr>
        <p:txBody>
          <a:bodyPr wrap="square">
            <a:spAutoFit/>
          </a:bodyPr>
          <a:lstStyle/>
          <a:p>
            <a:pPr algn="ctr">
              <a:defRPr sz="1600" b="1">
                <a:solidFill>
                  <a:srgbClr val="FFFFFF"/>
                </a:solidFill>
                <a:latin typeface="Calibri"/>
              </a:defRPr>
            </a:pPr>
            <a:r>
              <a:t>01</a:t>
            </a:r>
          </a:p>
        </p:txBody>
      </p:sp>
      <p:sp>
        <p:nvSpPr>
          <p:cNvPr id="6" name="TextBox 5"/>
          <p:cNvSpPr txBox="1"/>
          <p:nvPr/>
        </p:nvSpPr>
        <p:spPr>
          <a:xfrm>
            <a:off x="1417320" y="1554480"/>
            <a:ext cx="4114800" cy="320040"/>
          </a:xfrm>
          <a:prstGeom prst="rect">
            <a:avLst/>
          </a:prstGeom>
          <a:noFill/>
        </p:spPr>
        <p:txBody>
          <a:bodyPr wrap="square">
            <a:spAutoFit/>
          </a:bodyPr>
          <a:lstStyle/>
          <a:p>
            <a:pPr algn="l">
              <a:defRPr sz="1600" b="1">
                <a:solidFill>
                  <a:srgbClr val="FFFFFF"/>
                </a:solidFill>
                <a:latin typeface="Calibri"/>
              </a:defRPr>
            </a:pPr>
            <a:r>
              <a:t>Project Overview</a:t>
            </a:r>
          </a:p>
        </p:txBody>
      </p:sp>
      <p:sp>
        <p:nvSpPr>
          <p:cNvPr id="7" name="TextBox 6"/>
          <p:cNvSpPr txBox="1"/>
          <p:nvPr/>
        </p:nvSpPr>
        <p:spPr>
          <a:xfrm>
            <a:off x="1417320" y="1874520"/>
            <a:ext cx="4114800" cy="274320"/>
          </a:xfrm>
          <a:prstGeom prst="rect">
            <a:avLst/>
          </a:prstGeom>
          <a:noFill/>
        </p:spPr>
        <p:txBody>
          <a:bodyPr wrap="square">
            <a:spAutoFit/>
          </a:bodyPr>
          <a:lstStyle/>
          <a:p>
            <a:pPr algn="l">
              <a:defRPr sz="1100" b="0">
                <a:solidFill>
                  <a:srgbClr val="94A3B8"/>
                </a:solidFill>
                <a:latin typeface="Calibri"/>
              </a:defRPr>
            </a:pPr>
            <a:r>
              <a:t>Introduction and objectives</a:t>
            </a:r>
          </a:p>
        </p:txBody>
      </p:sp>
      <p:sp>
        <p:nvSpPr>
          <p:cNvPr id="8" name="Rounded Rectangle 7"/>
          <p:cNvSpPr/>
          <p:nvPr/>
        </p:nvSpPr>
        <p:spPr>
          <a:xfrm>
            <a:off x="731520" y="2514600"/>
            <a:ext cx="502920" cy="502920"/>
          </a:xfrm>
          <a:prstGeom prst="round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560320"/>
            <a:ext cx="502920" cy="411480"/>
          </a:xfrm>
          <a:prstGeom prst="rect">
            <a:avLst/>
          </a:prstGeom>
          <a:noFill/>
        </p:spPr>
        <p:txBody>
          <a:bodyPr wrap="square">
            <a:spAutoFit/>
          </a:bodyPr>
          <a:lstStyle/>
          <a:p>
            <a:pPr algn="ctr">
              <a:defRPr sz="1600" b="1">
                <a:solidFill>
                  <a:srgbClr val="FFFFFF"/>
                </a:solidFill>
                <a:latin typeface="Calibri"/>
              </a:defRPr>
            </a:pPr>
            <a:r>
              <a:t>02</a:t>
            </a:r>
          </a:p>
        </p:txBody>
      </p:sp>
      <p:sp>
        <p:nvSpPr>
          <p:cNvPr id="10" name="TextBox 9"/>
          <p:cNvSpPr txBox="1"/>
          <p:nvPr/>
        </p:nvSpPr>
        <p:spPr>
          <a:xfrm>
            <a:off x="1417320" y="2514600"/>
            <a:ext cx="4114800" cy="320040"/>
          </a:xfrm>
          <a:prstGeom prst="rect">
            <a:avLst/>
          </a:prstGeom>
          <a:noFill/>
        </p:spPr>
        <p:txBody>
          <a:bodyPr wrap="square">
            <a:spAutoFit/>
          </a:bodyPr>
          <a:lstStyle/>
          <a:p>
            <a:pPr algn="l">
              <a:defRPr sz="1600" b="1">
                <a:solidFill>
                  <a:srgbClr val="FFFFFF"/>
                </a:solidFill>
                <a:latin typeface="Calibri"/>
              </a:defRPr>
            </a:pPr>
            <a:r>
              <a:t>System Architecture</a:t>
            </a:r>
          </a:p>
        </p:txBody>
      </p:sp>
      <p:sp>
        <p:nvSpPr>
          <p:cNvPr id="11" name="TextBox 10"/>
          <p:cNvSpPr txBox="1"/>
          <p:nvPr/>
        </p:nvSpPr>
        <p:spPr>
          <a:xfrm>
            <a:off x="1417320" y="2834640"/>
            <a:ext cx="4114800" cy="274320"/>
          </a:xfrm>
          <a:prstGeom prst="rect">
            <a:avLst/>
          </a:prstGeom>
          <a:noFill/>
        </p:spPr>
        <p:txBody>
          <a:bodyPr wrap="square">
            <a:spAutoFit/>
          </a:bodyPr>
          <a:lstStyle/>
          <a:p>
            <a:pPr algn="l">
              <a:defRPr sz="1100" b="0">
                <a:solidFill>
                  <a:srgbClr val="94A3B8"/>
                </a:solidFill>
                <a:latin typeface="Calibri"/>
              </a:defRPr>
            </a:pPr>
            <a:r>
              <a:t>Full-stack design and data flow</a:t>
            </a:r>
          </a:p>
        </p:txBody>
      </p:sp>
      <p:sp>
        <p:nvSpPr>
          <p:cNvPr id="12" name="Rounded Rectangle 11"/>
          <p:cNvSpPr/>
          <p:nvPr/>
        </p:nvSpPr>
        <p:spPr>
          <a:xfrm>
            <a:off x="731520" y="3474720"/>
            <a:ext cx="502920" cy="502920"/>
          </a:xfrm>
          <a:prstGeom prst="round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520440"/>
            <a:ext cx="502920" cy="411480"/>
          </a:xfrm>
          <a:prstGeom prst="rect">
            <a:avLst/>
          </a:prstGeom>
          <a:noFill/>
        </p:spPr>
        <p:txBody>
          <a:bodyPr wrap="square">
            <a:spAutoFit/>
          </a:bodyPr>
          <a:lstStyle/>
          <a:p>
            <a:pPr algn="ctr">
              <a:defRPr sz="1600" b="1">
                <a:solidFill>
                  <a:srgbClr val="FFFFFF"/>
                </a:solidFill>
                <a:latin typeface="Calibri"/>
              </a:defRPr>
            </a:pPr>
            <a:r>
              <a:t>03</a:t>
            </a:r>
          </a:p>
        </p:txBody>
      </p:sp>
      <p:sp>
        <p:nvSpPr>
          <p:cNvPr id="14" name="TextBox 13"/>
          <p:cNvSpPr txBox="1"/>
          <p:nvPr/>
        </p:nvSpPr>
        <p:spPr>
          <a:xfrm>
            <a:off x="1417320" y="3474720"/>
            <a:ext cx="4114800" cy="320040"/>
          </a:xfrm>
          <a:prstGeom prst="rect">
            <a:avLst/>
          </a:prstGeom>
          <a:noFill/>
        </p:spPr>
        <p:txBody>
          <a:bodyPr wrap="square">
            <a:spAutoFit/>
          </a:bodyPr>
          <a:lstStyle/>
          <a:p>
            <a:pPr algn="l">
              <a:defRPr sz="1600" b="1">
                <a:solidFill>
                  <a:srgbClr val="FFFFFF"/>
                </a:solidFill>
                <a:latin typeface="Calibri"/>
              </a:defRPr>
            </a:pPr>
            <a:r>
              <a:t>Recommendation Algorithms</a:t>
            </a:r>
          </a:p>
        </p:txBody>
      </p:sp>
      <p:sp>
        <p:nvSpPr>
          <p:cNvPr id="15" name="TextBox 14"/>
          <p:cNvSpPr txBox="1"/>
          <p:nvPr/>
        </p:nvSpPr>
        <p:spPr>
          <a:xfrm>
            <a:off x="1417320" y="3794760"/>
            <a:ext cx="4114800" cy="274320"/>
          </a:xfrm>
          <a:prstGeom prst="rect">
            <a:avLst/>
          </a:prstGeom>
          <a:noFill/>
        </p:spPr>
        <p:txBody>
          <a:bodyPr wrap="square">
            <a:spAutoFit/>
          </a:bodyPr>
          <a:lstStyle/>
          <a:p>
            <a:pPr algn="l">
              <a:defRPr sz="1100" b="0">
                <a:solidFill>
                  <a:srgbClr val="94A3B8"/>
                </a:solidFill>
                <a:latin typeface="Calibri"/>
              </a:defRPr>
            </a:pPr>
            <a:r>
              <a:t>Collaborative, SVD, and content-based methods</a:t>
            </a:r>
          </a:p>
        </p:txBody>
      </p:sp>
      <p:sp>
        <p:nvSpPr>
          <p:cNvPr id="16" name="Rounded Rectangle 15"/>
          <p:cNvSpPr/>
          <p:nvPr/>
        </p:nvSpPr>
        <p:spPr>
          <a:xfrm>
            <a:off x="731520" y="4434840"/>
            <a:ext cx="502920" cy="502920"/>
          </a:xfrm>
          <a:prstGeom prst="round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80560"/>
            <a:ext cx="502920" cy="411480"/>
          </a:xfrm>
          <a:prstGeom prst="rect">
            <a:avLst/>
          </a:prstGeom>
          <a:noFill/>
        </p:spPr>
        <p:txBody>
          <a:bodyPr wrap="square">
            <a:spAutoFit/>
          </a:bodyPr>
          <a:lstStyle/>
          <a:p>
            <a:pPr algn="ctr">
              <a:defRPr sz="1600" b="1">
                <a:solidFill>
                  <a:srgbClr val="FFFFFF"/>
                </a:solidFill>
                <a:latin typeface="Calibri"/>
              </a:defRPr>
            </a:pPr>
            <a:r>
              <a:t>04</a:t>
            </a:r>
          </a:p>
        </p:txBody>
      </p:sp>
      <p:sp>
        <p:nvSpPr>
          <p:cNvPr id="18" name="TextBox 17"/>
          <p:cNvSpPr txBox="1"/>
          <p:nvPr/>
        </p:nvSpPr>
        <p:spPr>
          <a:xfrm>
            <a:off x="1417320" y="4434840"/>
            <a:ext cx="4114800" cy="320040"/>
          </a:xfrm>
          <a:prstGeom prst="rect">
            <a:avLst/>
          </a:prstGeom>
          <a:noFill/>
        </p:spPr>
        <p:txBody>
          <a:bodyPr wrap="square">
            <a:spAutoFit/>
          </a:bodyPr>
          <a:lstStyle/>
          <a:p>
            <a:pPr algn="l">
              <a:defRPr sz="1600" b="1">
                <a:solidFill>
                  <a:srgbClr val="FFFFFF"/>
                </a:solidFill>
                <a:latin typeface="Calibri"/>
              </a:defRPr>
            </a:pPr>
            <a:r>
              <a:t>Tech Stack</a:t>
            </a:r>
          </a:p>
        </p:txBody>
      </p:sp>
      <p:sp>
        <p:nvSpPr>
          <p:cNvPr id="19" name="TextBox 18"/>
          <p:cNvSpPr txBox="1"/>
          <p:nvPr/>
        </p:nvSpPr>
        <p:spPr>
          <a:xfrm>
            <a:off x="1417320" y="4754880"/>
            <a:ext cx="4114800" cy="274320"/>
          </a:xfrm>
          <a:prstGeom prst="rect">
            <a:avLst/>
          </a:prstGeom>
          <a:noFill/>
        </p:spPr>
        <p:txBody>
          <a:bodyPr wrap="square">
            <a:spAutoFit/>
          </a:bodyPr>
          <a:lstStyle/>
          <a:p>
            <a:pPr algn="l">
              <a:defRPr sz="1100" b="0">
                <a:solidFill>
                  <a:srgbClr val="94A3B8"/>
                </a:solidFill>
                <a:latin typeface="Calibri"/>
              </a:defRPr>
            </a:pPr>
            <a:r>
              <a:t>Frontend, backend, and ML libraries</a:t>
            </a:r>
          </a:p>
        </p:txBody>
      </p:sp>
      <p:sp>
        <p:nvSpPr>
          <p:cNvPr id="20" name="Rounded Rectangle 19"/>
          <p:cNvSpPr/>
          <p:nvPr/>
        </p:nvSpPr>
        <p:spPr>
          <a:xfrm>
            <a:off x="731520" y="5394960"/>
            <a:ext cx="502920" cy="502920"/>
          </a:xfrm>
          <a:prstGeom prst="roundRect">
            <a:avLst/>
          </a:prstGeom>
          <a:solidFill>
            <a:srgbClr val="FB71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440680"/>
            <a:ext cx="502920" cy="411480"/>
          </a:xfrm>
          <a:prstGeom prst="rect">
            <a:avLst/>
          </a:prstGeom>
          <a:noFill/>
        </p:spPr>
        <p:txBody>
          <a:bodyPr wrap="square">
            <a:spAutoFit/>
          </a:bodyPr>
          <a:lstStyle/>
          <a:p>
            <a:pPr algn="ctr">
              <a:defRPr sz="1600" b="1">
                <a:solidFill>
                  <a:srgbClr val="FFFFFF"/>
                </a:solidFill>
                <a:latin typeface="Calibri"/>
              </a:defRPr>
            </a:pPr>
            <a:r>
              <a:t>05</a:t>
            </a:r>
          </a:p>
        </p:txBody>
      </p:sp>
      <p:sp>
        <p:nvSpPr>
          <p:cNvPr id="22" name="TextBox 21"/>
          <p:cNvSpPr txBox="1"/>
          <p:nvPr/>
        </p:nvSpPr>
        <p:spPr>
          <a:xfrm>
            <a:off x="1417320" y="5394960"/>
            <a:ext cx="4114800" cy="320040"/>
          </a:xfrm>
          <a:prstGeom prst="rect">
            <a:avLst/>
          </a:prstGeom>
          <a:noFill/>
        </p:spPr>
        <p:txBody>
          <a:bodyPr wrap="square">
            <a:spAutoFit/>
          </a:bodyPr>
          <a:lstStyle/>
          <a:p>
            <a:pPr algn="l">
              <a:defRPr sz="1600" b="1">
                <a:solidFill>
                  <a:srgbClr val="FFFFFF"/>
                </a:solidFill>
                <a:latin typeface="Calibri"/>
              </a:defRPr>
            </a:pPr>
            <a:r>
              <a:t>Frontend Components</a:t>
            </a:r>
          </a:p>
        </p:txBody>
      </p:sp>
      <p:sp>
        <p:nvSpPr>
          <p:cNvPr id="23" name="TextBox 22"/>
          <p:cNvSpPr txBox="1"/>
          <p:nvPr/>
        </p:nvSpPr>
        <p:spPr>
          <a:xfrm>
            <a:off x="1417320" y="5715000"/>
            <a:ext cx="4114800" cy="274320"/>
          </a:xfrm>
          <a:prstGeom prst="rect">
            <a:avLst/>
          </a:prstGeom>
          <a:noFill/>
        </p:spPr>
        <p:txBody>
          <a:bodyPr wrap="square">
            <a:spAutoFit/>
          </a:bodyPr>
          <a:lstStyle/>
          <a:p>
            <a:pPr algn="l">
              <a:defRPr sz="1100" b="0">
                <a:solidFill>
                  <a:srgbClr val="94A3B8"/>
                </a:solidFill>
                <a:latin typeface="Calibri"/>
              </a:defRPr>
            </a:pPr>
            <a:r>
              <a:t>React pages and interactive components</a:t>
            </a:r>
          </a:p>
        </p:txBody>
      </p:sp>
      <p:sp>
        <p:nvSpPr>
          <p:cNvPr id="24" name="Rounded Rectangle 23"/>
          <p:cNvSpPr/>
          <p:nvPr/>
        </p:nvSpPr>
        <p:spPr>
          <a:xfrm>
            <a:off x="6492240" y="1554480"/>
            <a:ext cx="502920" cy="502920"/>
          </a:xfrm>
          <a:prstGeom prst="round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0" y="1600200"/>
            <a:ext cx="502920" cy="411480"/>
          </a:xfrm>
          <a:prstGeom prst="rect">
            <a:avLst/>
          </a:prstGeom>
          <a:noFill/>
        </p:spPr>
        <p:txBody>
          <a:bodyPr wrap="square">
            <a:spAutoFit/>
          </a:bodyPr>
          <a:lstStyle/>
          <a:p>
            <a:pPr algn="ctr">
              <a:defRPr sz="1600" b="1">
                <a:solidFill>
                  <a:srgbClr val="FFFFFF"/>
                </a:solidFill>
                <a:latin typeface="Calibri"/>
              </a:defRPr>
            </a:pPr>
            <a:r>
              <a:t>06</a:t>
            </a:r>
          </a:p>
        </p:txBody>
      </p:sp>
      <p:sp>
        <p:nvSpPr>
          <p:cNvPr id="26" name="TextBox 25"/>
          <p:cNvSpPr txBox="1"/>
          <p:nvPr/>
        </p:nvSpPr>
        <p:spPr>
          <a:xfrm>
            <a:off x="7178040" y="1554480"/>
            <a:ext cx="4114800" cy="320040"/>
          </a:xfrm>
          <a:prstGeom prst="rect">
            <a:avLst/>
          </a:prstGeom>
          <a:noFill/>
        </p:spPr>
        <p:txBody>
          <a:bodyPr wrap="square">
            <a:spAutoFit/>
          </a:bodyPr>
          <a:lstStyle/>
          <a:p>
            <a:pPr algn="l">
              <a:defRPr sz="1600" b="1">
                <a:solidFill>
                  <a:srgbClr val="FFFFFF"/>
                </a:solidFill>
                <a:latin typeface="Calibri"/>
              </a:defRPr>
            </a:pPr>
            <a:r>
              <a:t>API Endpoints</a:t>
            </a:r>
          </a:p>
        </p:txBody>
      </p:sp>
      <p:sp>
        <p:nvSpPr>
          <p:cNvPr id="27" name="TextBox 26"/>
          <p:cNvSpPr txBox="1"/>
          <p:nvPr/>
        </p:nvSpPr>
        <p:spPr>
          <a:xfrm>
            <a:off x="7178040" y="1874520"/>
            <a:ext cx="4114800" cy="274320"/>
          </a:xfrm>
          <a:prstGeom prst="rect">
            <a:avLst/>
          </a:prstGeom>
          <a:noFill/>
        </p:spPr>
        <p:txBody>
          <a:bodyPr wrap="square">
            <a:spAutoFit/>
          </a:bodyPr>
          <a:lstStyle/>
          <a:p>
            <a:pPr algn="l">
              <a:defRPr sz="1100" b="0">
                <a:solidFill>
                  <a:srgbClr val="94A3B8"/>
                </a:solidFill>
                <a:latin typeface="Calibri"/>
              </a:defRPr>
            </a:pPr>
            <a:r>
              <a:t>RESTful API design with FastAPI</a:t>
            </a:r>
          </a:p>
        </p:txBody>
      </p:sp>
      <p:sp>
        <p:nvSpPr>
          <p:cNvPr id="28" name="Rounded Rectangle 27"/>
          <p:cNvSpPr/>
          <p:nvPr/>
        </p:nvSpPr>
        <p:spPr>
          <a:xfrm>
            <a:off x="6492240" y="2514600"/>
            <a:ext cx="502920" cy="502920"/>
          </a:xfrm>
          <a:prstGeom prst="round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2240" y="2560320"/>
            <a:ext cx="502920" cy="411480"/>
          </a:xfrm>
          <a:prstGeom prst="rect">
            <a:avLst/>
          </a:prstGeom>
          <a:noFill/>
        </p:spPr>
        <p:txBody>
          <a:bodyPr wrap="square">
            <a:spAutoFit/>
          </a:bodyPr>
          <a:lstStyle/>
          <a:p>
            <a:pPr algn="ctr">
              <a:defRPr sz="1600" b="1">
                <a:solidFill>
                  <a:srgbClr val="FFFFFF"/>
                </a:solidFill>
                <a:latin typeface="Calibri"/>
              </a:defRPr>
            </a:pPr>
            <a:r>
              <a:t>07</a:t>
            </a:r>
          </a:p>
        </p:txBody>
      </p:sp>
      <p:sp>
        <p:nvSpPr>
          <p:cNvPr id="30" name="TextBox 29"/>
          <p:cNvSpPr txBox="1"/>
          <p:nvPr/>
        </p:nvSpPr>
        <p:spPr>
          <a:xfrm>
            <a:off x="7178040" y="2514600"/>
            <a:ext cx="4114800" cy="320040"/>
          </a:xfrm>
          <a:prstGeom prst="rect">
            <a:avLst/>
          </a:prstGeom>
          <a:noFill/>
        </p:spPr>
        <p:txBody>
          <a:bodyPr wrap="square">
            <a:spAutoFit/>
          </a:bodyPr>
          <a:lstStyle/>
          <a:p>
            <a:pPr algn="l">
              <a:defRPr sz="1600" b="1">
                <a:solidFill>
                  <a:srgbClr val="FFFFFF"/>
                </a:solidFill>
                <a:latin typeface="Calibri"/>
              </a:defRPr>
            </a:pPr>
            <a:r>
              <a:t>Evaluation Metrics</a:t>
            </a:r>
          </a:p>
        </p:txBody>
      </p:sp>
      <p:sp>
        <p:nvSpPr>
          <p:cNvPr id="31" name="TextBox 30"/>
          <p:cNvSpPr txBox="1"/>
          <p:nvPr/>
        </p:nvSpPr>
        <p:spPr>
          <a:xfrm>
            <a:off x="7178040" y="2834640"/>
            <a:ext cx="4114800" cy="274320"/>
          </a:xfrm>
          <a:prstGeom prst="rect">
            <a:avLst/>
          </a:prstGeom>
          <a:noFill/>
        </p:spPr>
        <p:txBody>
          <a:bodyPr wrap="square">
            <a:spAutoFit/>
          </a:bodyPr>
          <a:lstStyle/>
          <a:p>
            <a:pPr algn="l">
              <a:defRPr sz="1100" b="0">
                <a:solidFill>
                  <a:srgbClr val="94A3B8"/>
                </a:solidFill>
                <a:latin typeface="Calibri"/>
              </a:defRPr>
            </a:pPr>
            <a:r>
              <a:t>RMSE, MAE, Precision@K, Recall@K</a:t>
            </a:r>
          </a:p>
        </p:txBody>
      </p:sp>
      <p:sp>
        <p:nvSpPr>
          <p:cNvPr id="32" name="Rounded Rectangle 31"/>
          <p:cNvSpPr/>
          <p:nvPr/>
        </p:nvSpPr>
        <p:spPr>
          <a:xfrm>
            <a:off x="6492240" y="3474720"/>
            <a:ext cx="502920" cy="502920"/>
          </a:xfrm>
          <a:prstGeom prst="round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92240" y="3520440"/>
            <a:ext cx="502920" cy="411480"/>
          </a:xfrm>
          <a:prstGeom prst="rect">
            <a:avLst/>
          </a:prstGeom>
          <a:noFill/>
        </p:spPr>
        <p:txBody>
          <a:bodyPr wrap="square">
            <a:spAutoFit/>
          </a:bodyPr>
          <a:lstStyle/>
          <a:p>
            <a:pPr algn="ctr">
              <a:defRPr sz="1600" b="1">
                <a:solidFill>
                  <a:srgbClr val="FFFFFF"/>
                </a:solidFill>
                <a:latin typeface="Calibri"/>
              </a:defRPr>
            </a:pPr>
            <a:r>
              <a:t>08</a:t>
            </a:r>
          </a:p>
        </p:txBody>
      </p:sp>
      <p:sp>
        <p:nvSpPr>
          <p:cNvPr id="34" name="TextBox 33"/>
          <p:cNvSpPr txBox="1"/>
          <p:nvPr/>
        </p:nvSpPr>
        <p:spPr>
          <a:xfrm>
            <a:off x="7178040" y="3474720"/>
            <a:ext cx="4114800" cy="320040"/>
          </a:xfrm>
          <a:prstGeom prst="rect">
            <a:avLst/>
          </a:prstGeom>
          <a:noFill/>
        </p:spPr>
        <p:txBody>
          <a:bodyPr wrap="square">
            <a:spAutoFit/>
          </a:bodyPr>
          <a:lstStyle/>
          <a:p>
            <a:pPr algn="l">
              <a:defRPr sz="1600" b="1">
                <a:solidFill>
                  <a:srgbClr val="FFFFFF"/>
                </a:solidFill>
                <a:latin typeface="Calibri"/>
              </a:defRPr>
            </a:pPr>
            <a:r>
              <a:t>Results &amp; Analysis</a:t>
            </a:r>
          </a:p>
        </p:txBody>
      </p:sp>
      <p:sp>
        <p:nvSpPr>
          <p:cNvPr id="35" name="TextBox 34"/>
          <p:cNvSpPr txBox="1"/>
          <p:nvPr/>
        </p:nvSpPr>
        <p:spPr>
          <a:xfrm>
            <a:off x="7178040" y="3794760"/>
            <a:ext cx="4114800" cy="274320"/>
          </a:xfrm>
          <a:prstGeom prst="rect">
            <a:avLst/>
          </a:prstGeom>
          <a:noFill/>
        </p:spPr>
        <p:txBody>
          <a:bodyPr wrap="square">
            <a:spAutoFit/>
          </a:bodyPr>
          <a:lstStyle/>
          <a:p>
            <a:pPr algn="l">
              <a:defRPr sz="1100" b="0">
                <a:solidFill>
                  <a:srgbClr val="94A3B8"/>
                </a:solidFill>
                <a:latin typeface="Calibri"/>
              </a:defRPr>
            </a:pPr>
            <a:r>
              <a:t>Performance charts and findings</a:t>
            </a:r>
          </a:p>
        </p:txBody>
      </p:sp>
      <p:sp>
        <p:nvSpPr>
          <p:cNvPr id="36" name="Rounded Rectangle 35"/>
          <p:cNvSpPr/>
          <p:nvPr/>
        </p:nvSpPr>
        <p:spPr>
          <a:xfrm>
            <a:off x="6492240" y="4434840"/>
            <a:ext cx="502920" cy="502920"/>
          </a:xfrm>
          <a:prstGeom prst="round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92240" y="4480560"/>
            <a:ext cx="502920" cy="411480"/>
          </a:xfrm>
          <a:prstGeom prst="rect">
            <a:avLst/>
          </a:prstGeom>
          <a:noFill/>
        </p:spPr>
        <p:txBody>
          <a:bodyPr wrap="square">
            <a:spAutoFit/>
          </a:bodyPr>
          <a:lstStyle/>
          <a:p>
            <a:pPr algn="ctr">
              <a:defRPr sz="1600" b="1">
                <a:solidFill>
                  <a:srgbClr val="FFFFFF"/>
                </a:solidFill>
                <a:latin typeface="Calibri"/>
              </a:defRPr>
            </a:pPr>
            <a:r>
              <a:t>09</a:t>
            </a:r>
          </a:p>
        </p:txBody>
      </p:sp>
      <p:sp>
        <p:nvSpPr>
          <p:cNvPr id="38" name="TextBox 37"/>
          <p:cNvSpPr txBox="1"/>
          <p:nvPr/>
        </p:nvSpPr>
        <p:spPr>
          <a:xfrm>
            <a:off x="7178040" y="4434840"/>
            <a:ext cx="4114800" cy="320040"/>
          </a:xfrm>
          <a:prstGeom prst="rect">
            <a:avLst/>
          </a:prstGeom>
          <a:noFill/>
        </p:spPr>
        <p:txBody>
          <a:bodyPr wrap="square">
            <a:spAutoFit/>
          </a:bodyPr>
          <a:lstStyle/>
          <a:p>
            <a:pPr algn="l">
              <a:defRPr sz="1600" b="1">
                <a:solidFill>
                  <a:srgbClr val="FFFFFF"/>
                </a:solidFill>
                <a:latin typeface="Calibri"/>
              </a:defRPr>
            </a:pPr>
            <a:r>
              <a:t>Key Features</a:t>
            </a:r>
          </a:p>
        </p:txBody>
      </p:sp>
      <p:sp>
        <p:nvSpPr>
          <p:cNvPr id="39" name="TextBox 38"/>
          <p:cNvSpPr txBox="1"/>
          <p:nvPr/>
        </p:nvSpPr>
        <p:spPr>
          <a:xfrm>
            <a:off x="7178040" y="4754880"/>
            <a:ext cx="4114800" cy="274320"/>
          </a:xfrm>
          <a:prstGeom prst="rect">
            <a:avLst/>
          </a:prstGeom>
          <a:noFill/>
        </p:spPr>
        <p:txBody>
          <a:bodyPr wrap="square">
            <a:spAutoFit/>
          </a:bodyPr>
          <a:lstStyle/>
          <a:p>
            <a:pPr algn="l">
              <a:defRPr sz="1100" b="0">
                <a:solidFill>
                  <a:srgbClr val="94A3B8"/>
                </a:solidFill>
                <a:latin typeface="Calibri"/>
              </a:defRPr>
            </a:pPr>
            <a:r>
              <a:t>Search, graph, posters, and explanations</a:t>
            </a:r>
          </a:p>
        </p:txBody>
      </p:sp>
      <p:sp>
        <p:nvSpPr>
          <p:cNvPr id="40" name="Rounded Rectangle 39"/>
          <p:cNvSpPr/>
          <p:nvPr/>
        </p:nvSpPr>
        <p:spPr>
          <a:xfrm>
            <a:off x="6492240" y="5394960"/>
            <a:ext cx="502920" cy="502920"/>
          </a:xfrm>
          <a:prstGeom prst="roundRect">
            <a:avLst/>
          </a:prstGeom>
          <a:solidFill>
            <a:srgbClr val="FB71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92240" y="5440680"/>
            <a:ext cx="502920" cy="411480"/>
          </a:xfrm>
          <a:prstGeom prst="rect">
            <a:avLst/>
          </a:prstGeom>
          <a:noFill/>
        </p:spPr>
        <p:txBody>
          <a:bodyPr wrap="square">
            <a:spAutoFit/>
          </a:bodyPr>
          <a:lstStyle/>
          <a:p>
            <a:pPr algn="ctr">
              <a:defRPr sz="1600" b="1">
                <a:solidFill>
                  <a:srgbClr val="FFFFFF"/>
                </a:solidFill>
                <a:latin typeface="Calibri"/>
              </a:defRPr>
            </a:pPr>
            <a:r>
              <a:t>10</a:t>
            </a:r>
          </a:p>
        </p:txBody>
      </p:sp>
      <p:sp>
        <p:nvSpPr>
          <p:cNvPr id="42" name="TextBox 41"/>
          <p:cNvSpPr txBox="1"/>
          <p:nvPr/>
        </p:nvSpPr>
        <p:spPr>
          <a:xfrm>
            <a:off x="7178040" y="5394960"/>
            <a:ext cx="4114800" cy="320040"/>
          </a:xfrm>
          <a:prstGeom prst="rect">
            <a:avLst/>
          </a:prstGeom>
          <a:noFill/>
        </p:spPr>
        <p:txBody>
          <a:bodyPr wrap="square">
            <a:spAutoFit/>
          </a:bodyPr>
          <a:lstStyle/>
          <a:p>
            <a:pPr algn="l">
              <a:defRPr sz="1600" b="1">
                <a:solidFill>
                  <a:srgbClr val="FFFFFF"/>
                </a:solidFill>
                <a:latin typeface="Calibri"/>
              </a:defRPr>
            </a:pPr>
            <a:r>
              <a:t>Conclusion &amp; Future Work</a:t>
            </a:r>
          </a:p>
        </p:txBody>
      </p:sp>
      <p:sp>
        <p:nvSpPr>
          <p:cNvPr id="43" name="TextBox 42"/>
          <p:cNvSpPr txBox="1"/>
          <p:nvPr/>
        </p:nvSpPr>
        <p:spPr>
          <a:xfrm>
            <a:off x="7178040" y="5715000"/>
            <a:ext cx="4114800" cy="274320"/>
          </a:xfrm>
          <a:prstGeom prst="rect">
            <a:avLst/>
          </a:prstGeom>
          <a:noFill/>
        </p:spPr>
        <p:txBody>
          <a:bodyPr wrap="square">
            <a:spAutoFit/>
          </a:bodyPr>
          <a:lstStyle/>
          <a:p>
            <a:pPr algn="l">
              <a:defRPr sz="1100" b="0">
                <a:solidFill>
                  <a:srgbClr val="94A3B8"/>
                </a:solidFill>
                <a:latin typeface="Calibri"/>
              </a:defRPr>
            </a:pPr>
            <a:r>
              <a:t>Summary and next steps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7315200" cy="640080"/>
          </a:xfrm>
          <a:prstGeom prst="rect">
            <a:avLst/>
          </a:prstGeom>
          <a:noFill/>
        </p:spPr>
        <p:txBody>
          <a:bodyPr wrap="square">
            <a:spAutoFit/>
          </a:bodyPr>
          <a:lstStyle/>
          <a:p>
            <a:pPr algn="l">
              <a:defRPr sz="3600" b="1">
                <a:solidFill>
                  <a:srgbClr val="FFFFFF"/>
                </a:solidFill>
                <a:latin typeface="Calibri"/>
              </a:defRPr>
            </a:pPr>
            <a:r>
              <a:t>01  Project Overview</a:t>
            </a:r>
          </a:p>
        </p:txBody>
      </p:sp>
      <p:sp>
        <p:nvSpPr>
          <p:cNvPr id="3" name="Rectangle 2"/>
          <p:cNvSpPr/>
          <p:nvPr/>
        </p:nvSpPr>
        <p:spPr>
          <a:xfrm>
            <a:off x="731520" y="1097280"/>
            <a:ext cx="2286000" cy="381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5303520" cy="2103120"/>
          </a:xfrm>
          <a:prstGeom prst="roundRect">
            <a:avLst/>
          </a:prstGeom>
          <a:solidFill>
            <a:srgbClr val="1A253C"/>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91640"/>
            <a:ext cx="4572000" cy="365760"/>
          </a:xfrm>
          <a:prstGeom prst="rect">
            <a:avLst/>
          </a:prstGeom>
          <a:noFill/>
        </p:spPr>
        <p:txBody>
          <a:bodyPr wrap="square">
            <a:spAutoFit/>
          </a:bodyPr>
          <a:lstStyle/>
          <a:p>
            <a:pPr algn="l">
              <a:defRPr sz="1800" b="1">
                <a:solidFill>
                  <a:srgbClr val="38BDF8"/>
                </a:solidFill>
                <a:latin typeface="Calibri"/>
              </a:defRPr>
            </a:pPr>
            <a:r>
              <a:t>🎯 Problem Statement</a:t>
            </a:r>
          </a:p>
        </p:txBody>
      </p:sp>
      <p:sp>
        <p:nvSpPr>
          <p:cNvPr id="6" name="TextBox 5"/>
          <p:cNvSpPr txBox="1"/>
          <p:nvPr/>
        </p:nvSpPr>
        <p:spPr>
          <a:xfrm>
            <a:off x="1005840" y="2148840"/>
            <a:ext cx="4846320" cy="1371600"/>
          </a:xfrm>
          <a:prstGeom prst="rect">
            <a:avLst/>
          </a:prstGeom>
          <a:noFill/>
        </p:spPr>
        <p:txBody>
          <a:bodyPr wrap="square">
            <a:spAutoFit/>
          </a:bodyPr>
          <a:lstStyle/>
          <a:p>
            <a:pPr algn="l">
              <a:defRPr sz="1400" b="0">
                <a:solidFill>
                  <a:srgbClr val="CBD5E1"/>
                </a:solidFill>
                <a:latin typeface="Calibri"/>
              </a:defRPr>
            </a:pPr>
            <a:r>
              <a:t>With thousands of movies available, users face choice overload. Traditional browsing is inefficient. This project builds an intelligent recommendation system that helps users discover movies they'll love, powered by hybrid machine learning algorithms and interactive visualizations.</a:t>
            </a:r>
          </a:p>
        </p:txBody>
      </p:sp>
      <p:sp>
        <p:nvSpPr>
          <p:cNvPr id="7" name="Rounded Rectangle 6"/>
          <p:cNvSpPr/>
          <p:nvPr/>
        </p:nvSpPr>
        <p:spPr>
          <a:xfrm>
            <a:off x="6400800" y="1554480"/>
            <a:ext cx="5029200" cy="2103120"/>
          </a:xfrm>
          <a:prstGeom prst="roundRect">
            <a:avLst/>
          </a:prstGeom>
          <a:solidFill>
            <a:srgbClr val="1A253C"/>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0" y="1691640"/>
            <a:ext cx="4572000" cy="365760"/>
          </a:xfrm>
          <a:prstGeom prst="rect">
            <a:avLst/>
          </a:prstGeom>
          <a:noFill/>
        </p:spPr>
        <p:txBody>
          <a:bodyPr wrap="square">
            <a:spAutoFit/>
          </a:bodyPr>
          <a:lstStyle/>
          <a:p>
            <a:pPr algn="l">
              <a:defRPr sz="1800" b="1">
                <a:solidFill>
                  <a:srgbClr val="34D399"/>
                </a:solidFill>
                <a:latin typeface="Calibri"/>
              </a:defRPr>
            </a:pPr>
            <a:r>
              <a:t>🚀 Objectives</a:t>
            </a:r>
          </a:p>
        </p:txBody>
      </p:sp>
      <p:sp>
        <p:nvSpPr>
          <p:cNvPr id="9" name="TextBox 8"/>
          <p:cNvSpPr txBox="1"/>
          <p:nvPr/>
        </p:nvSpPr>
        <p:spPr>
          <a:xfrm>
            <a:off x="6675120" y="2148840"/>
            <a:ext cx="4572000" cy="1371600"/>
          </a:xfrm>
          <a:prstGeom prst="rect">
            <a:avLst/>
          </a:prstGeom>
          <a:noFill/>
        </p:spPr>
        <p:txBody>
          <a:bodyPr wrap="square">
            <a:spAutoFit/>
          </a:bodyPr>
          <a:lstStyle/>
          <a:p>
            <a:pPr>
              <a:spcAft>
                <a:spcPts val="600"/>
              </a:spcAft>
              <a:defRPr sz="1300">
                <a:solidFill>
                  <a:srgbClr val="CBD5E1"/>
                </a:solidFill>
                <a:latin typeface="Calibri"/>
              </a:defRPr>
            </a:pPr>
            <a:r>
              <a:t>• Build a hybrid recommendation engine (Collaborative + SVD + Content)</a:t>
            </a:r>
          </a:p>
          <a:p>
            <a:pPr>
              <a:spcAft>
                <a:spcPts val="600"/>
              </a:spcAft>
              <a:defRPr sz="1300">
                <a:solidFill>
                  <a:srgbClr val="CBD5E1"/>
                </a:solidFill>
                <a:latin typeface="Calibri"/>
              </a:defRPr>
            </a:pPr>
            <a:r>
              <a:t>• Create an interactive React-based frontend with Tailwind CSS</a:t>
            </a:r>
          </a:p>
          <a:p>
            <a:pPr>
              <a:spcAft>
                <a:spcPts val="600"/>
              </a:spcAft>
              <a:defRPr sz="1300">
                <a:solidFill>
                  <a:srgbClr val="CBD5E1"/>
                </a:solidFill>
                <a:latin typeface="Calibri"/>
              </a:defRPr>
            </a:pPr>
            <a:r>
              <a:t>• Implement explainable AI – show WHY movies are recommended</a:t>
            </a:r>
          </a:p>
          <a:p>
            <a:pPr>
              <a:spcAft>
                <a:spcPts val="600"/>
              </a:spcAft>
              <a:defRPr sz="1300">
                <a:solidFill>
                  <a:srgbClr val="CBD5E1"/>
                </a:solidFill>
                <a:latin typeface="Calibri"/>
              </a:defRPr>
            </a:pPr>
            <a:r>
              <a:t>• Visualize movie similarity networks using D3.js force graphs</a:t>
            </a:r>
          </a:p>
        </p:txBody>
      </p:sp>
      <p:sp>
        <p:nvSpPr>
          <p:cNvPr id="10" name="Rounded Rectangle 9"/>
          <p:cNvSpPr/>
          <p:nvPr/>
        </p:nvSpPr>
        <p:spPr>
          <a:xfrm>
            <a:off x="700887" y="4114800"/>
            <a:ext cx="2011680" cy="2011680"/>
          </a:xfrm>
          <a:prstGeom prst="roundRect">
            <a:avLst/>
          </a:prstGeom>
          <a:solidFill>
            <a:srgbClr val="1A253C"/>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0887" y="4343400"/>
            <a:ext cx="2011680" cy="457200"/>
          </a:xfrm>
          <a:prstGeom prst="rect">
            <a:avLst/>
          </a:prstGeom>
          <a:noFill/>
        </p:spPr>
        <p:txBody>
          <a:bodyPr wrap="square">
            <a:spAutoFit/>
          </a:bodyPr>
          <a:lstStyle/>
          <a:p>
            <a:pPr algn="ctr">
              <a:defRPr sz="2800" b="0">
                <a:solidFill>
                  <a:srgbClr val="FFFFFF"/>
                </a:solidFill>
                <a:latin typeface="Calibri"/>
              </a:defRPr>
            </a:pPr>
            <a:r>
              <a:t>🎬</a:t>
            </a:r>
          </a:p>
        </p:txBody>
      </p:sp>
      <p:sp>
        <p:nvSpPr>
          <p:cNvPr id="12" name="TextBox 11"/>
          <p:cNvSpPr txBox="1"/>
          <p:nvPr/>
        </p:nvSpPr>
        <p:spPr>
          <a:xfrm>
            <a:off x="700887" y="4846320"/>
            <a:ext cx="2011680" cy="457200"/>
          </a:xfrm>
          <a:prstGeom prst="rect">
            <a:avLst/>
          </a:prstGeom>
          <a:noFill/>
        </p:spPr>
        <p:txBody>
          <a:bodyPr wrap="square">
            <a:spAutoFit/>
          </a:bodyPr>
          <a:lstStyle/>
          <a:p>
            <a:pPr algn="ctr">
              <a:defRPr sz="3000" b="1">
                <a:solidFill>
                  <a:srgbClr val="38BDF8"/>
                </a:solidFill>
                <a:latin typeface="Calibri"/>
              </a:defRPr>
            </a:pPr>
            <a:r>
              <a:t>9,700+</a:t>
            </a:r>
          </a:p>
        </p:txBody>
      </p:sp>
      <p:sp>
        <p:nvSpPr>
          <p:cNvPr id="13" name="TextBox 12"/>
          <p:cNvSpPr txBox="1"/>
          <p:nvPr/>
        </p:nvSpPr>
        <p:spPr>
          <a:xfrm>
            <a:off x="700887" y="5394960"/>
            <a:ext cx="2011680" cy="457200"/>
          </a:xfrm>
          <a:prstGeom prst="rect">
            <a:avLst/>
          </a:prstGeom>
          <a:noFill/>
        </p:spPr>
        <p:txBody>
          <a:bodyPr wrap="square">
            <a:spAutoFit/>
          </a:bodyPr>
          <a:lstStyle/>
          <a:p>
            <a:pPr algn="ctr">
              <a:defRPr sz="1300" b="0">
                <a:solidFill>
                  <a:srgbClr val="94A3B8"/>
                </a:solidFill>
                <a:latin typeface="Calibri"/>
              </a:defRPr>
            </a:pPr>
            <a:r>
              <a:t>Movies in Dataset</a:t>
            </a:r>
          </a:p>
        </p:txBody>
      </p:sp>
      <p:sp>
        <p:nvSpPr>
          <p:cNvPr id="14" name="Rounded Rectangle 13"/>
          <p:cNvSpPr/>
          <p:nvPr/>
        </p:nvSpPr>
        <p:spPr>
          <a:xfrm>
            <a:off x="2895447" y="4114800"/>
            <a:ext cx="2011680" cy="2011680"/>
          </a:xfrm>
          <a:prstGeom prst="roundRect">
            <a:avLst/>
          </a:prstGeom>
          <a:solidFill>
            <a:srgbClr val="1A253C"/>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95447" y="4343400"/>
            <a:ext cx="2011680" cy="457200"/>
          </a:xfrm>
          <a:prstGeom prst="rect">
            <a:avLst/>
          </a:prstGeom>
          <a:noFill/>
        </p:spPr>
        <p:txBody>
          <a:bodyPr wrap="square">
            <a:spAutoFit/>
          </a:bodyPr>
          <a:lstStyle/>
          <a:p>
            <a:pPr algn="ctr">
              <a:defRPr sz="2800" b="0">
                <a:solidFill>
                  <a:srgbClr val="FFFFFF"/>
                </a:solidFill>
                <a:latin typeface="Calibri"/>
              </a:defRPr>
            </a:pPr>
            <a:r>
              <a:t>⭐</a:t>
            </a:r>
          </a:p>
        </p:txBody>
      </p:sp>
      <p:sp>
        <p:nvSpPr>
          <p:cNvPr id="16" name="TextBox 15"/>
          <p:cNvSpPr txBox="1"/>
          <p:nvPr/>
        </p:nvSpPr>
        <p:spPr>
          <a:xfrm>
            <a:off x="2895447" y="4846320"/>
            <a:ext cx="2011680" cy="457200"/>
          </a:xfrm>
          <a:prstGeom prst="rect">
            <a:avLst/>
          </a:prstGeom>
          <a:noFill/>
        </p:spPr>
        <p:txBody>
          <a:bodyPr wrap="square">
            <a:spAutoFit/>
          </a:bodyPr>
          <a:lstStyle/>
          <a:p>
            <a:pPr algn="ctr">
              <a:defRPr sz="3000" b="1">
                <a:solidFill>
                  <a:srgbClr val="A78BFA"/>
                </a:solidFill>
                <a:latin typeface="Calibri"/>
              </a:defRPr>
            </a:pPr>
            <a:r>
              <a:t>100K+</a:t>
            </a:r>
          </a:p>
        </p:txBody>
      </p:sp>
      <p:sp>
        <p:nvSpPr>
          <p:cNvPr id="17" name="TextBox 16"/>
          <p:cNvSpPr txBox="1"/>
          <p:nvPr/>
        </p:nvSpPr>
        <p:spPr>
          <a:xfrm>
            <a:off x="2895447" y="5394960"/>
            <a:ext cx="2011680" cy="457200"/>
          </a:xfrm>
          <a:prstGeom prst="rect">
            <a:avLst/>
          </a:prstGeom>
          <a:noFill/>
        </p:spPr>
        <p:txBody>
          <a:bodyPr wrap="square">
            <a:spAutoFit/>
          </a:bodyPr>
          <a:lstStyle/>
          <a:p>
            <a:pPr algn="ctr">
              <a:defRPr sz="1300" b="0">
                <a:solidFill>
                  <a:srgbClr val="94A3B8"/>
                </a:solidFill>
                <a:latin typeface="Calibri"/>
              </a:defRPr>
            </a:pPr>
            <a:r>
              <a:t>User Ratings</a:t>
            </a:r>
          </a:p>
        </p:txBody>
      </p:sp>
      <p:sp>
        <p:nvSpPr>
          <p:cNvPr id="18" name="Rounded Rectangle 17"/>
          <p:cNvSpPr/>
          <p:nvPr/>
        </p:nvSpPr>
        <p:spPr>
          <a:xfrm>
            <a:off x="5090007" y="4114800"/>
            <a:ext cx="2011680" cy="2011680"/>
          </a:xfrm>
          <a:prstGeom prst="roundRect">
            <a:avLst/>
          </a:prstGeom>
          <a:solidFill>
            <a:srgbClr val="1A253C"/>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90007" y="4343400"/>
            <a:ext cx="2011680" cy="457200"/>
          </a:xfrm>
          <a:prstGeom prst="rect">
            <a:avLst/>
          </a:prstGeom>
          <a:noFill/>
        </p:spPr>
        <p:txBody>
          <a:bodyPr wrap="square">
            <a:spAutoFit/>
          </a:bodyPr>
          <a:lstStyle/>
          <a:p>
            <a:pPr algn="ctr">
              <a:defRPr sz="2800" b="0">
                <a:solidFill>
                  <a:srgbClr val="FFFFFF"/>
                </a:solidFill>
                <a:latin typeface="Calibri"/>
              </a:defRPr>
            </a:pPr>
            <a:r>
              <a:t>🤖</a:t>
            </a:r>
          </a:p>
        </p:txBody>
      </p:sp>
      <p:sp>
        <p:nvSpPr>
          <p:cNvPr id="20" name="TextBox 19"/>
          <p:cNvSpPr txBox="1"/>
          <p:nvPr/>
        </p:nvSpPr>
        <p:spPr>
          <a:xfrm>
            <a:off x="5090007" y="4846320"/>
            <a:ext cx="2011680" cy="457200"/>
          </a:xfrm>
          <a:prstGeom prst="rect">
            <a:avLst/>
          </a:prstGeom>
          <a:noFill/>
        </p:spPr>
        <p:txBody>
          <a:bodyPr wrap="square">
            <a:spAutoFit/>
          </a:bodyPr>
          <a:lstStyle/>
          <a:p>
            <a:pPr algn="ctr">
              <a:defRPr sz="3000" b="1">
                <a:solidFill>
                  <a:srgbClr val="34D399"/>
                </a:solidFill>
                <a:latin typeface="Calibri"/>
              </a:defRPr>
            </a:pPr>
            <a:r>
              <a:t>3</a:t>
            </a:r>
          </a:p>
        </p:txBody>
      </p:sp>
      <p:sp>
        <p:nvSpPr>
          <p:cNvPr id="21" name="TextBox 20"/>
          <p:cNvSpPr txBox="1"/>
          <p:nvPr/>
        </p:nvSpPr>
        <p:spPr>
          <a:xfrm>
            <a:off x="5090007" y="5394960"/>
            <a:ext cx="2011680" cy="457200"/>
          </a:xfrm>
          <a:prstGeom prst="rect">
            <a:avLst/>
          </a:prstGeom>
          <a:noFill/>
        </p:spPr>
        <p:txBody>
          <a:bodyPr wrap="square">
            <a:spAutoFit/>
          </a:bodyPr>
          <a:lstStyle/>
          <a:p>
            <a:pPr algn="ctr">
              <a:defRPr sz="1300" b="0">
                <a:solidFill>
                  <a:srgbClr val="94A3B8"/>
                </a:solidFill>
                <a:latin typeface="Calibri"/>
              </a:defRPr>
            </a:pPr>
            <a:r>
              <a:t>ML Algorithms</a:t>
            </a:r>
          </a:p>
        </p:txBody>
      </p:sp>
      <p:sp>
        <p:nvSpPr>
          <p:cNvPr id="22" name="Rounded Rectangle 21"/>
          <p:cNvSpPr/>
          <p:nvPr/>
        </p:nvSpPr>
        <p:spPr>
          <a:xfrm>
            <a:off x="7284567" y="4114800"/>
            <a:ext cx="2011680" cy="2011680"/>
          </a:xfrm>
          <a:prstGeom prst="roundRect">
            <a:avLst/>
          </a:prstGeom>
          <a:solidFill>
            <a:srgbClr val="1A253C"/>
          </a:solidFill>
          <a:ln w="12700">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84567" y="4343400"/>
            <a:ext cx="2011680" cy="457200"/>
          </a:xfrm>
          <a:prstGeom prst="rect">
            <a:avLst/>
          </a:prstGeom>
          <a:noFill/>
        </p:spPr>
        <p:txBody>
          <a:bodyPr wrap="square">
            <a:spAutoFit/>
          </a:bodyPr>
          <a:lstStyle/>
          <a:p>
            <a:pPr algn="ctr">
              <a:defRPr sz="2800" b="0">
                <a:solidFill>
                  <a:srgbClr val="FFFFFF"/>
                </a:solidFill>
                <a:latin typeface="Calibri"/>
              </a:defRPr>
            </a:pPr>
            <a:r>
              <a:t>📊</a:t>
            </a:r>
          </a:p>
        </p:txBody>
      </p:sp>
      <p:sp>
        <p:nvSpPr>
          <p:cNvPr id="24" name="TextBox 23"/>
          <p:cNvSpPr txBox="1"/>
          <p:nvPr/>
        </p:nvSpPr>
        <p:spPr>
          <a:xfrm>
            <a:off x="7284567" y="4846320"/>
            <a:ext cx="2011680" cy="457200"/>
          </a:xfrm>
          <a:prstGeom prst="rect">
            <a:avLst/>
          </a:prstGeom>
          <a:noFill/>
        </p:spPr>
        <p:txBody>
          <a:bodyPr wrap="square">
            <a:spAutoFit/>
          </a:bodyPr>
          <a:lstStyle/>
          <a:p>
            <a:pPr algn="ctr">
              <a:defRPr sz="3000" b="1">
                <a:solidFill>
                  <a:srgbClr val="FBBF24"/>
                </a:solidFill>
                <a:latin typeface="Calibri"/>
              </a:defRPr>
            </a:pPr>
            <a:r>
              <a:t>4</a:t>
            </a:r>
          </a:p>
        </p:txBody>
      </p:sp>
      <p:sp>
        <p:nvSpPr>
          <p:cNvPr id="25" name="TextBox 24"/>
          <p:cNvSpPr txBox="1"/>
          <p:nvPr/>
        </p:nvSpPr>
        <p:spPr>
          <a:xfrm>
            <a:off x="7284567" y="5394960"/>
            <a:ext cx="2011680" cy="457200"/>
          </a:xfrm>
          <a:prstGeom prst="rect">
            <a:avLst/>
          </a:prstGeom>
          <a:noFill/>
        </p:spPr>
        <p:txBody>
          <a:bodyPr wrap="square">
            <a:spAutoFit/>
          </a:bodyPr>
          <a:lstStyle/>
          <a:p>
            <a:pPr algn="ctr">
              <a:defRPr sz="1300" b="0">
                <a:solidFill>
                  <a:srgbClr val="94A3B8"/>
                </a:solidFill>
                <a:latin typeface="Calibri"/>
              </a:defRPr>
            </a:pPr>
            <a:r>
              <a:t>Evaluation Metrics</a:t>
            </a:r>
          </a:p>
        </p:txBody>
      </p:sp>
      <p:sp>
        <p:nvSpPr>
          <p:cNvPr id="26" name="Rounded Rectangle 25"/>
          <p:cNvSpPr/>
          <p:nvPr/>
        </p:nvSpPr>
        <p:spPr>
          <a:xfrm>
            <a:off x="9479127" y="4114800"/>
            <a:ext cx="2011680" cy="2011680"/>
          </a:xfrm>
          <a:prstGeom prst="roundRect">
            <a:avLst/>
          </a:prstGeom>
          <a:solidFill>
            <a:srgbClr val="1A253C"/>
          </a:solidFill>
          <a:ln w="12700">
            <a:solidFill>
              <a:srgbClr val="FB71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479127" y="4343400"/>
            <a:ext cx="2011680" cy="457200"/>
          </a:xfrm>
          <a:prstGeom prst="rect">
            <a:avLst/>
          </a:prstGeom>
          <a:noFill/>
        </p:spPr>
        <p:txBody>
          <a:bodyPr wrap="square">
            <a:spAutoFit/>
          </a:bodyPr>
          <a:lstStyle/>
          <a:p>
            <a:pPr algn="ctr">
              <a:defRPr sz="2800" b="0">
                <a:solidFill>
                  <a:srgbClr val="FFFFFF"/>
                </a:solidFill>
                <a:latin typeface="Calibri"/>
              </a:defRPr>
            </a:pPr>
            <a:r>
              <a:t>🌐</a:t>
            </a:r>
          </a:p>
        </p:txBody>
      </p:sp>
      <p:sp>
        <p:nvSpPr>
          <p:cNvPr id="28" name="TextBox 27"/>
          <p:cNvSpPr txBox="1"/>
          <p:nvPr/>
        </p:nvSpPr>
        <p:spPr>
          <a:xfrm>
            <a:off x="9479127" y="4846320"/>
            <a:ext cx="2011680" cy="457200"/>
          </a:xfrm>
          <a:prstGeom prst="rect">
            <a:avLst/>
          </a:prstGeom>
          <a:noFill/>
        </p:spPr>
        <p:txBody>
          <a:bodyPr wrap="square">
            <a:spAutoFit/>
          </a:bodyPr>
          <a:lstStyle/>
          <a:p>
            <a:pPr algn="ctr">
              <a:defRPr sz="3000" b="1">
                <a:solidFill>
                  <a:srgbClr val="FB7185"/>
                </a:solidFill>
                <a:latin typeface="Calibri"/>
              </a:defRPr>
            </a:pPr>
            <a:r>
              <a:t>6</a:t>
            </a:r>
          </a:p>
        </p:txBody>
      </p:sp>
      <p:sp>
        <p:nvSpPr>
          <p:cNvPr id="29" name="TextBox 28"/>
          <p:cNvSpPr txBox="1"/>
          <p:nvPr/>
        </p:nvSpPr>
        <p:spPr>
          <a:xfrm>
            <a:off x="9479127" y="5394960"/>
            <a:ext cx="2011680" cy="457200"/>
          </a:xfrm>
          <a:prstGeom prst="rect">
            <a:avLst/>
          </a:prstGeom>
          <a:noFill/>
        </p:spPr>
        <p:txBody>
          <a:bodyPr wrap="square">
            <a:spAutoFit/>
          </a:bodyPr>
          <a:lstStyle/>
          <a:p>
            <a:pPr algn="ctr">
              <a:defRPr sz="1300" b="0">
                <a:solidFill>
                  <a:srgbClr val="94A3B8"/>
                </a:solidFill>
                <a:latin typeface="Calibri"/>
              </a:defRPr>
            </a:pPr>
            <a:r>
              <a:t>API Endpoints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7315200" cy="640080"/>
          </a:xfrm>
          <a:prstGeom prst="rect">
            <a:avLst/>
          </a:prstGeom>
          <a:noFill/>
        </p:spPr>
        <p:txBody>
          <a:bodyPr wrap="square">
            <a:spAutoFit/>
          </a:bodyPr>
          <a:lstStyle/>
          <a:p>
            <a:pPr algn="l">
              <a:defRPr sz="3600" b="1">
                <a:solidFill>
                  <a:srgbClr val="FFFFFF"/>
                </a:solidFill>
                <a:latin typeface="Calibri"/>
              </a:defRPr>
            </a:pPr>
            <a:r>
              <a:t>02  System Architecture</a:t>
            </a:r>
          </a:p>
        </p:txBody>
      </p:sp>
      <p:sp>
        <p:nvSpPr>
          <p:cNvPr id="3" name="Rectangle 2"/>
          <p:cNvSpPr/>
          <p:nvPr/>
        </p:nvSpPr>
        <p:spPr>
          <a:xfrm>
            <a:off x="731520" y="1097280"/>
            <a:ext cx="2286000" cy="381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2560320"/>
            <a:ext cx="1828800" cy="2286000"/>
          </a:xfrm>
          <a:prstGeom prst="roundRect">
            <a:avLst/>
          </a:prstGeom>
          <a:solidFill>
            <a:srgbClr val="1A253C"/>
          </a:solidFill>
          <a:ln w="1905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743200"/>
            <a:ext cx="1828800" cy="457200"/>
          </a:xfrm>
          <a:prstGeom prst="rect">
            <a:avLst/>
          </a:prstGeom>
          <a:noFill/>
        </p:spPr>
        <p:txBody>
          <a:bodyPr wrap="square">
            <a:spAutoFit/>
          </a:bodyPr>
          <a:lstStyle/>
          <a:p>
            <a:pPr algn="ctr">
              <a:defRPr sz="3000" b="0">
                <a:solidFill>
                  <a:srgbClr val="FFFFFF"/>
                </a:solidFill>
                <a:latin typeface="Calibri"/>
              </a:defRPr>
            </a:pPr>
            <a:r>
              <a:t>👤</a:t>
            </a:r>
          </a:p>
        </p:txBody>
      </p:sp>
      <p:sp>
        <p:nvSpPr>
          <p:cNvPr id="6" name="TextBox 5"/>
          <p:cNvSpPr txBox="1"/>
          <p:nvPr/>
        </p:nvSpPr>
        <p:spPr>
          <a:xfrm>
            <a:off x="457200" y="3291840"/>
            <a:ext cx="1828800" cy="365760"/>
          </a:xfrm>
          <a:prstGeom prst="rect">
            <a:avLst/>
          </a:prstGeom>
          <a:noFill/>
        </p:spPr>
        <p:txBody>
          <a:bodyPr wrap="square">
            <a:spAutoFit/>
          </a:bodyPr>
          <a:lstStyle/>
          <a:p>
            <a:pPr algn="ctr">
              <a:defRPr sz="1500" b="1">
                <a:solidFill>
                  <a:srgbClr val="38BDF8"/>
                </a:solidFill>
                <a:latin typeface="Calibri"/>
              </a:defRPr>
            </a:pPr>
            <a:r>
              <a:t>User</a:t>
            </a:r>
          </a:p>
        </p:txBody>
      </p:sp>
      <p:sp>
        <p:nvSpPr>
          <p:cNvPr id="7" name="TextBox 6"/>
          <p:cNvSpPr txBox="1"/>
          <p:nvPr/>
        </p:nvSpPr>
        <p:spPr>
          <a:xfrm>
            <a:off x="594360" y="3749040"/>
            <a:ext cx="1554480" cy="731520"/>
          </a:xfrm>
          <a:prstGeom prst="rect">
            <a:avLst/>
          </a:prstGeom>
          <a:noFill/>
        </p:spPr>
        <p:txBody>
          <a:bodyPr wrap="square">
            <a:spAutoFit/>
          </a:bodyPr>
          <a:lstStyle/>
          <a:p>
            <a:pPr algn="ctr">
              <a:defRPr sz="1200" b="0">
                <a:solidFill>
                  <a:srgbClr val="94A3B8"/>
                </a:solidFill>
                <a:latin typeface="Calibri"/>
              </a:defRPr>
            </a:pPr>
            <a:r>
              <a:t>Browser</a:t>
            </a:r>
            <a:br/>
            <a:r>
              <a:t>Interaction</a:t>
            </a:r>
          </a:p>
        </p:txBody>
      </p:sp>
      <p:sp>
        <p:nvSpPr>
          <p:cNvPr id="8" name="TextBox 7"/>
          <p:cNvSpPr txBox="1"/>
          <p:nvPr/>
        </p:nvSpPr>
        <p:spPr>
          <a:xfrm>
            <a:off x="2377440" y="3383280"/>
            <a:ext cx="457200" cy="457200"/>
          </a:xfrm>
          <a:prstGeom prst="rect">
            <a:avLst/>
          </a:prstGeom>
          <a:noFill/>
        </p:spPr>
        <p:txBody>
          <a:bodyPr wrap="square">
            <a:spAutoFit/>
          </a:bodyPr>
          <a:lstStyle/>
          <a:p>
            <a:pPr algn="ctr">
              <a:defRPr sz="2800" b="0">
                <a:solidFill>
                  <a:srgbClr val="94A3B8"/>
                </a:solidFill>
                <a:latin typeface="Calibri"/>
              </a:defRPr>
            </a:pPr>
            <a:r>
              <a:t>→</a:t>
            </a:r>
          </a:p>
        </p:txBody>
      </p:sp>
      <p:sp>
        <p:nvSpPr>
          <p:cNvPr id="9" name="Rounded Rectangle 8"/>
          <p:cNvSpPr/>
          <p:nvPr/>
        </p:nvSpPr>
        <p:spPr>
          <a:xfrm>
            <a:off x="2560320" y="2560320"/>
            <a:ext cx="1828800" cy="2286000"/>
          </a:xfrm>
          <a:prstGeom prst="roundRect">
            <a:avLst/>
          </a:prstGeom>
          <a:solidFill>
            <a:srgbClr val="1A253C"/>
          </a:solidFill>
          <a:ln w="1905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60320" y="2743200"/>
            <a:ext cx="1828800" cy="457200"/>
          </a:xfrm>
          <a:prstGeom prst="rect">
            <a:avLst/>
          </a:prstGeom>
          <a:noFill/>
        </p:spPr>
        <p:txBody>
          <a:bodyPr wrap="square">
            <a:spAutoFit/>
          </a:bodyPr>
          <a:lstStyle/>
          <a:p>
            <a:pPr algn="ctr">
              <a:defRPr sz="3000" b="0">
                <a:solidFill>
                  <a:srgbClr val="FFFFFF"/>
                </a:solidFill>
                <a:latin typeface="Calibri"/>
              </a:defRPr>
            </a:pPr>
            <a:r>
              <a:t>⚛️</a:t>
            </a:r>
          </a:p>
        </p:txBody>
      </p:sp>
      <p:sp>
        <p:nvSpPr>
          <p:cNvPr id="11" name="TextBox 10"/>
          <p:cNvSpPr txBox="1"/>
          <p:nvPr/>
        </p:nvSpPr>
        <p:spPr>
          <a:xfrm>
            <a:off x="2560320" y="3291840"/>
            <a:ext cx="1828800" cy="365760"/>
          </a:xfrm>
          <a:prstGeom prst="rect">
            <a:avLst/>
          </a:prstGeom>
          <a:noFill/>
        </p:spPr>
        <p:txBody>
          <a:bodyPr wrap="square">
            <a:spAutoFit/>
          </a:bodyPr>
          <a:lstStyle/>
          <a:p>
            <a:pPr algn="ctr">
              <a:defRPr sz="1500" b="1">
                <a:solidFill>
                  <a:srgbClr val="A78BFA"/>
                </a:solidFill>
                <a:latin typeface="Calibri"/>
              </a:defRPr>
            </a:pPr>
            <a:r>
              <a:t>React Frontend</a:t>
            </a:r>
          </a:p>
        </p:txBody>
      </p:sp>
      <p:sp>
        <p:nvSpPr>
          <p:cNvPr id="12" name="TextBox 11"/>
          <p:cNvSpPr txBox="1"/>
          <p:nvPr/>
        </p:nvSpPr>
        <p:spPr>
          <a:xfrm>
            <a:off x="2697480" y="3749040"/>
            <a:ext cx="1554480" cy="731520"/>
          </a:xfrm>
          <a:prstGeom prst="rect">
            <a:avLst/>
          </a:prstGeom>
          <a:noFill/>
        </p:spPr>
        <p:txBody>
          <a:bodyPr wrap="square">
            <a:spAutoFit/>
          </a:bodyPr>
          <a:lstStyle/>
          <a:p>
            <a:pPr algn="ctr">
              <a:defRPr sz="1200" b="0">
                <a:solidFill>
                  <a:srgbClr val="94A3B8"/>
                </a:solidFill>
                <a:latin typeface="Calibri"/>
              </a:defRPr>
            </a:pPr>
            <a:r>
              <a:t>Vite + Tailwind</a:t>
            </a:r>
            <a:br/>
            <a:r>
              <a:t>D3 Graph Viz</a:t>
            </a:r>
          </a:p>
        </p:txBody>
      </p:sp>
      <p:sp>
        <p:nvSpPr>
          <p:cNvPr id="13" name="TextBox 12"/>
          <p:cNvSpPr txBox="1"/>
          <p:nvPr/>
        </p:nvSpPr>
        <p:spPr>
          <a:xfrm>
            <a:off x="4480560" y="3383280"/>
            <a:ext cx="457200" cy="457200"/>
          </a:xfrm>
          <a:prstGeom prst="rect">
            <a:avLst/>
          </a:prstGeom>
          <a:noFill/>
        </p:spPr>
        <p:txBody>
          <a:bodyPr wrap="square">
            <a:spAutoFit/>
          </a:bodyPr>
          <a:lstStyle/>
          <a:p>
            <a:pPr algn="ctr">
              <a:defRPr sz="2800" b="0">
                <a:solidFill>
                  <a:srgbClr val="94A3B8"/>
                </a:solidFill>
                <a:latin typeface="Calibri"/>
              </a:defRPr>
            </a:pPr>
            <a:r>
              <a:t>→</a:t>
            </a:r>
          </a:p>
        </p:txBody>
      </p:sp>
      <p:sp>
        <p:nvSpPr>
          <p:cNvPr id="14" name="Rounded Rectangle 13"/>
          <p:cNvSpPr/>
          <p:nvPr/>
        </p:nvSpPr>
        <p:spPr>
          <a:xfrm>
            <a:off x="4663440" y="2560320"/>
            <a:ext cx="1828800" cy="2286000"/>
          </a:xfrm>
          <a:prstGeom prst="roundRect">
            <a:avLst/>
          </a:prstGeom>
          <a:solidFill>
            <a:srgbClr val="1A253C"/>
          </a:solidFill>
          <a:ln w="1905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3440" y="2743200"/>
            <a:ext cx="1828800" cy="457200"/>
          </a:xfrm>
          <a:prstGeom prst="rect">
            <a:avLst/>
          </a:prstGeom>
          <a:noFill/>
        </p:spPr>
        <p:txBody>
          <a:bodyPr wrap="square">
            <a:spAutoFit/>
          </a:bodyPr>
          <a:lstStyle/>
          <a:p>
            <a:pPr algn="ctr">
              <a:defRPr sz="3000" b="0">
                <a:solidFill>
                  <a:srgbClr val="FFFFFF"/>
                </a:solidFill>
                <a:latin typeface="Calibri"/>
              </a:defRPr>
            </a:pPr>
            <a:r>
              <a:t>🔗</a:t>
            </a:r>
          </a:p>
        </p:txBody>
      </p:sp>
      <p:sp>
        <p:nvSpPr>
          <p:cNvPr id="16" name="TextBox 15"/>
          <p:cNvSpPr txBox="1"/>
          <p:nvPr/>
        </p:nvSpPr>
        <p:spPr>
          <a:xfrm>
            <a:off x="4663440" y="3291840"/>
            <a:ext cx="1828800" cy="365760"/>
          </a:xfrm>
          <a:prstGeom prst="rect">
            <a:avLst/>
          </a:prstGeom>
          <a:noFill/>
        </p:spPr>
        <p:txBody>
          <a:bodyPr wrap="square">
            <a:spAutoFit/>
          </a:bodyPr>
          <a:lstStyle/>
          <a:p>
            <a:pPr algn="ctr">
              <a:defRPr sz="1500" b="1">
                <a:solidFill>
                  <a:srgbClr val="34D399"/>
                </a:solidFill>
                <a:latin typeface="Calibri"/>
              </a:defRPr>
            </a:pPr>
            <a:r>
              <a:t>REST API</a:t>
            </a:r>
          </a:p>
        </p:txBody>
      </p:sp>
      <p:sp>
        <p:nvSpPr>
          <p:cNvPr id="17" name="TextBox 16"/>
          <p:cNvSpPr txBox="1"/>
          <p:nvPr/>
        </p:nvSpPr>
        <p:spPr>
          <a:xfrm>
            <a:off x="4800600" y="3749040"/>
            <a:ext cx="1554480" cy="731520"/>
          </a:xfrm>
          <a:prstGeom prst="rect">
            <a:avLst/>
          </a:prstGeom>
          <a:noFill/>
        </p:spPr>
        <p:txBody>
          <a:bodyPr wrap="square">
            <a:spAutoFit/>
          </a:bodyPr>
          <a:lstStyle/>
          <a:p>
            <a:pPr algn="ctr">
              <a:defRPr sz="1200" b="0">
                <a:solidFill>
                  <a:srgbClr val="94A3B8"/>
                </a:solidFill>
                <a:latin typeface="Calibri"/>
              </a:defRPr>
            </a:pPr>
            <a:r>
              <a:t>FastAPI</a:t>
            </a:r>
            <a:br/>
            <a:r>
              <a:t>Endpoints</a:t>
            </a:r>
          </a:p>
        </p:txBody>
      </p:sp>
      <p:sp>
        <p:nvSpPr>
          <p:cNvPr id="18" name="TextBox 17"/>
          <p:cNvSpPr txBox="1"/>
          <p:nvPr/>
        </p:nvSpPr>
        <p:spPr>
          <a:xfrm>
            <a:off x="6583680" y="3383280"/>
            <a:ext cx="457200" cy="457200"/>
          </a:xfrm>
          <a:prstGeom prst="rect">
            <a:avLst/>
          </a:prstGeom>
          <a:noFill/>
        </p:spPr>
        <p:txBody>
          <a:bodyPr wrap="square">
            <a:spAutoFit/>
          </a:bodyPr>
          <a:lstStyle/>
          <a:p>
            <a:pPr algn="ctr">
              <a:defRPr sz="2800" b="0">
                <a:solidFill>
                  <a:srgbClr val="94A3B8"/>
                </a:solidFill>
                <a:latin typeface="Calibri"/>
              </a:defRPr>
            </a:pPr>
            <a:r>
              <a:t>→</a:t>
            </a:r>
          </a:p>
        </p:txBody>
      </p:sp>
      <p:sp>
        <p:nvSpPr>
          <p:cNvPr id="19" name="Rounded Rectangle 18"/>
          <p:cNvSpPr/>
          <p:nvPr/>
        </p:nvSpPr>
        <p:spPr>
          <a:xfrm>
            <a:off x="6766560" y="2560320"/>
            <a:ext cx="1828800" cy="2286000"/>
          </a:xfrm>
          <a:prstGeom prst="roundRect">
            <a:avLst/>
          </a:prstGeom>
          <a:solidFill>
            <a:srgbClr val="1A253C"/>
          </a:solidFill>
          <a:ln w="19050">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0" y="2743200"/>
            <a:ext cx="1828800" cy="457200"/>
          </a:xfrm>
          <a:prstGeom prst="rect">
            <a:avLst/>
          </a:prstGeom>
          <a:noFill/>
        </p:spPr>
        <p:txBody>
          <a:bodyPr wrap="square">
            <a:spAutoFit/>
          </a:bodyPr>
          <a:lstStyle/>
          <a:p>
            <a:pPr algn="ctr">
              <a:defRPr sz="3000" b="0">
                <a:solidFill>
                  <a:srgbClr val="FFFFFF"/>
                </a:solidFill>
                <a:latin typeface="Calibri"/>
              </a:defRPr>
            </a:pPr>
            <a:r>
              <a:t>🧠</a:t>
            </a:r>
          </a:p>
        </p:txBody>
      </p:sp>
      <p:sp>
        <p:nvSpPr>
          <p:cNvPr id="21" name="TextBox 20"/>
          <p:cNvSpPr txBox="1"/>
          <p:nvPr/>
        </p:nvSpPr>
        <p:spPr>
          <a:xfrm>
            <a:off x="6766560" y="3291840"/>
            <a:ext cx="1828800" cy="365760"/>
          </a:xfrm>
          <a:prstGeom prst="rect">
            <a:avLst/>
          </a:prstGeom>
          <a:noFill/>
        </p:spPr>
        <p:txBody>
          <a:bodyPr wrap="square">
            <a:spAutoFit/>
          </a:bodyPr>
          <a:lstStyle/>
          <a:p>
            <a:pPr algn="ctr">
              <a:defRPr sz="1500" b="1">
                <a:solidFill>
                  <a:srgbClr val="FBBF24"/>
                </a:solidFill>
                <a:latin typeface="Calibri"/>
              </a:defRPr>
            </a:pPr>
            <a:r>
              <a:t>ML Engine</a:t>
            </a:r>
          </a:p>
        </p:txBody>
      </p:sp>
      <p:sp>
        <p:nvSpPr>
          <p:cNvPr id="22" name="TextBox 21"/>
          <p:cNvSpPr txBox="1"/>
          <p:nvPr/>
        </p:nvSpPr>
        <p:spPr>
          <a:xfrm>
            <a:off x="6903720" y="3749040"/>
            <a:ext cx="1554480" cy="731520"/>
          </a:xfrm>
          <a:prstGeom prst="rect">
            <a:avLst/>
          </a:prstGeom>
          <a:noFill/>
        </p:spPr>
        <p:txBody>
          <a:bodyPr wrap="square">
            <a:spAutoFit/>
          </a:bodyPr>
          <a:lstStyle/>
          <a:p>
            <a:pPr algn="ctr">
              <a:defRPr sz="1200" b="0">
                <a:solidFill>
                  <a:srgbClr val="94A3B8"/>
                </a:solidFill>
                <a:latin typeface="Calibri"/>
              </a:defRPr>
            </a:pPr>
            <a:r>
              <a:t>Hybrid</a:t>
            </a:r>
            <a:br/>
            <a:r>
              <a:t>Recommender</a:t>
            </a:r>
          </a:p>
        </p:txBody>
      </p:sp>
      <p:sp>
        <p:nvSpPr>
          <p:cNvPr id="23" name="TextBox 22"/>
          <p:cNvSpPr txBox="1"/>
          <p:nvPr/>
        </p:nvSpPr>
        <p:spPr>
          <a:xfrm>
            <a:off x="8686800" y="3383280"/>
            <a:ext cx="457200" cy="457200"/>
          </a:xfrm>
          <a:prstGeom prst="rect">
            <a:avLst/>
          </a:prstGeom>
          <a:noFill/>
        </p:spPr>
        <p:txBody>
          <a:bodyPr wrap="square">
            <a:spAutoFit/>
          </a:bodyPr>
          <a:lstStyle/>
          <a:p>
            <a:pPr algn="ctr">
              <a:defRPr sz="2800" b="0">
                <a:solidFill>
                  <a:srgbClr val="94A3B8"/>
                </a:solidFill>
                <a:latin typeface="Calibri"/>
              </a:defRPr>
            </a:pPr>
            <a:r>
              <a:t>→</a:t>
            </a:r>
          </a:p>
        </p:txBody>
      </p:sp>
      <p:sp>
        <p:nvSpPr>
          <p:cNvPr id="24" name="Rounded Rectangle 23"/>
          <p:cNvSpPr/>
          <p:nvPr/>
        </p:nvSpPr>
        <p:spPr>
          <a:xfrm>
            <a:off x="8869680" y="2560320"/>
            <a:ext cx="1828800" cy="2286000"/>
          </a:xfrm>
          <a:prstGeom prst="roundRect">
            <a:avLst/>
          </a:prstGeom>
          <a:solidFill>
            <a:srgbClr val="1A253C"/>
          </a:solidFill>
          <a:ln w="19050">
            <a:solidFill>
              <a:srgbClr val="FB71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869680" y="2743200"/>
            <a:ext cx="1828800" cy="457200"/>
          </a:xfrm>
          <a:prstGeom prst="rect">
            <a:avLst/>
          </a:prstGeom>
          <a:noFill/>
        </p:spPr>
        <p:txBody>
          <a:bodyPr wrap="square">
            <a:spAutoFit/>
          </a:bodyPr>
          <a:lstStyle/>
          <a:p>
            <a:pPr algn="ctr">
              <a:defRPr sz="3000" b="0">
                <a:solidFill>
                  <a:srgbClr val="FFFFFF"/>
                </a:solidFill>
                <a:latin typeface="Calibri"/>
              </a:defRPr>
            </a:pPr>
            <a:r>
              <a:t>📦</a:t>
            </a:r>
          </a:p>
        </p:txBody>
      </p:sp>
      <p:sp>
        <p:nvSpPr>
          <p:cNvPr id="26" name="TextBox 25"/>
          <p:cNvSpPr txBox="1"/>
          <p:nvPr/>
        </p:nvSpPr>
        <p:spPr>
          <a:xfrm>
            <a:off x="8869680" y="3291840"/>
            <a:ext cx="1828800" cy="365760"/>
          </a:xfrm>
          <a:prstGeom prst="rect">
            <a:avLst/>
          </a:prstGeom>
          <a:noFill/>
        </p:spPr>
        <p:txBody>
          <a:bodyPr wrap="square">
            <a:spAutoFit/>
          </a:bodyPr>
          <a:lstStyle/>
          <a:p>
            <a:pPr algn="ctr">
              <a:defRPr sz="1500" b="1">
                <a:solidFill>
                  <a:srgbClr val="FB7185"/>
                </a:solidFill>
                <a:latin typeface="Calibri"/>
              </a:defRPr>
            </a:pPr>
            <a:r>
              <a:t>Data Layer</a:t>
            </a:r>
          </a:p>
        </p:txBody>
      </p:sp>
      <p:sp>
        <p:nvSpPr>
          <p:cNvPr id="27" name="TextBox 26"/>
          <p:cNvSpPr txBox="1"/>
          <p:nvPr/>
        </p:nvSpPr>
        <p:spPr>
          <a:xfrm>
            <a:off x="9006840" y="3749040"/>
            <a:ext cx="1554480" cy="731520"/>
          </a:xfrm>
          <a:prstGeom prst="rect">
            <a:avLst/>
          </a:prstGeom>
          <a:noFill/>
        </p:spPr>
        <p:txBody>
          <a:bodyPr wrap="square">
            <a:spAutoFit/>
          </a:bodyPr>
          <a:lstStyle/>
          <a:p>
            <a:pPr algn="ctr">
              <a:defRPr sz="1200" b="0">
                <a:solidFill>
                  <a:srgbClr val="94A3B8"/>
                </a:solidFill>
                <a:latin typeface="Calibri"/>
              </a:defRPr>
            </a:pPr>
            <a:r>
              <a:t>CSV Datasets</a:t>
            </a:r>
            <a:br/>
            <a:r>
              <a:t>Pandas + Sklearn</a:t>
            </a:r>
          </a:p>
        </p:txBody>
      </p:sp>
      <p:sp>
        <p:nvSpPr>
          <p:cNvPr id="28" name="Rounded Rectangle 27"/>
          <p:cNvSpPr/>
          <p:nvPr/>
        </p:nvSpPr>
        <p:spPr>
          <a:xfrm>
            <a:off x="731520" y="5303520"/>
            <a:ext cx="10698480" cy="109728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 y="5440680"/>
            <a:ext cx="10058400" cy="274320"/>
          </a:xfrm>
          <a:prstGeom prst="rect">
            <a:avLst/>
          </a:prstGeom>
          <a:noFill/>
        </p:spPr>
        <p:txBody>
          <a:bodyPr wrap="square">
            <a:spAutoFit/>
          </a:bodyPr>
          <a:lstStyle/>
          <a:p>
            <a:pPr algn="l">
              <a:defRPr sz="1600" b="1">
                <a:solidFill>
                  <a:srgbClr val="38BDF8"/>
                </a:solidFill>
                <a:latin typeface="Calibri"/>
              </a:defRPr>
            </a:pPr>
            <a:r>
              <a:t>Data Flow</a:t>
            </a:r>
          </a:p>
        </p:txBody>
      </p:sp>
      <p:sp>
        <p:nvSpPr>
          <p:cNvPr id="30" name="TextBox 29"/>
          <p:cNvSpPr txBox="1"/>
          <p:nvPr/>
        </p:nvSpPr>
        <p:spPr>
          <a:xfrm>
            <a:off x="1005840" y="5760720"/>
            <a:ext cx="10058400" cy="548640"/>
          </a:xfrm>
          <a:prstGeom prst="rect">
            <a:avLst/>
          </a:prstGeom>
          <a:noFill/>
        </p:spPr>
        <p:txBody>
          <a:bodyPr wrap="square">
            <a:spAutoFit/>
          </a:bodyPr>
          <a:lstStyle/>
          <a:p>
            <a:pPr algn="l">
              <a:defRPr sz="1300" b="0">
                <a:solidFill>
                  <a:srgbClr val="CBD5E1"/>
                </a:solidFill>
                <a:latin typeface="Calibri"/>
              </a:defRPr>
            </a:pPr>
            <a:r>
              <a:t>User searches a movie → React sends GET/POST request to FastAPI → Backend loads pre-computed similarity matrices → Hybrid scoring combines Collaborative (50%) + SVD (30%) + Content (20%) → Ranked results returned with explanations → React renders cards, posters (via Wikipedia API), and D3 force graph.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9144000" cy="640080"/>
          </a:xfrm>
          <a:prstGeom prst="rect">
            <a:avLst/>
          </a:prstGeom>
          <a:noFill/>
        </p:spPr>
        <p:txBody>
          <a:bodyPr wrap="square">
            <a:spAutoFit/>
          </a:bodyPr>
          <a:lstStyle/>
          <a:p>
            <a:pPr algn="l">
              <a:defRPr sz="3600" b="1">
                <a:solidFill>
                  <a:srgbClr val="FFFFFF"/>
                </a:solidFill>
                <a:latin typeface="Calibri"/>
              </a:defRPr>
            </a:pPr>
            <a:r>
              <a:t>03  Recommendation Algorithms</a:t>
            </a:r>
          </a:p>
        </p:txBody>
      </p:sp>
      <p:sp>
        <p:nvSpPr>
          <p:cNvPr id="3" name="Rectangle 2"/>
          <p:cNvSpPr/>
          <p:nvPr/>
        </p:nvSpPr>
        <p:spPr>
          <a:xfrm>
            <a:off x="731520" y="1097280"/>
            <a:ext cx="2743200" cy="3810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5167" y="1554480"/>
            <a:ext cx="3474720" cy="4846320"/>
          </a:xfrm>
          <a:prstGeom prst="roundRect">
            <a:avLst/>
          </a:prstGeom>
          <a:solidFill>
            <a:srgbClr val="1A253C"/>
          </a:solidFill>
          <a:ln w="1905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5167" y="1737360"/>
            <a:ext cx="3474720" cy="457200"/>
          </a:xfrm>
          <a:prstGeom prst="rect">
            <a:avLst/>
          </a:prstGeom>
          <a:noFill/>
        </p:spPr>
        <p:txBody>
          <a:bodyPr wrap="square">
            <a:spAutoFit/>
          </a:bodyPr>
          <a:lstStyle/>
          <a:p>
            <a:pPr algn="ctr">
              <a:defRPr sz="3200" b="0">
                <a:solidFill>
                  <a:srgbClr val="FFFFFF"/>
                </a:solidFill>
                <a:latin typeface="Calibri"/>
              </a:defRPr>
            </a:pPr>
            <a:r>
              <a:t>👥</a:t>
            </a:r>
          </a:p>
        </p:txBody>
      </p:sp>
      <p:sp>
        <p:nvSpPr>
          <p:cNvPr id="6" name="TextBox 5"/>
          <p:cNvSpPr txBox="1"/>
          <p:nvPr/>
        </p:nvSpPr>
        <p:spPr>
          <a:xfrm>
            <a:off x="655167" y="2286000"/>
            <a:ext cx="3474720" cy="365760"/>
          </a:xfrm>
          <a:prstGeom prst="rect">
            <a:avLst/>
          </a:prstGeom>
          <a:noFill/>
        </p:spPr>
        <p:txBody>
          <a:bodyPr wrap="square">
            <a:spAutoFit/>
          </a:bodyPr>
          <a:lstStyle/>
          <a:p>
            <a:pPr algn="ctr">
              <a:defRPr sz="1700" b="1">
                <a:solidFill>
                  <a:srgbClr val="38BDF8"/>
                </a:solidFill>
                <a:latin typeface="Calibri"/>
              </a:defRPr>
            </a:pPr>
            <a:r>
              <a:t>Collaborative Filtering</a:t>
            </a:r>
          </a:p>
        </p:txBody>
      </p:sp>
      <p:sp>
        <p:nvSpPr>
          <p:cNvPr id="7" name="Rounded Rectangle 6"/>
          <p:cNvSpPr/>
          <p:nvPr/>
        </p:nvSpPr>
        <p:spPr>
          <a:xfrm>
            <a:off x="1935327" y="2743200"/>
            <a:ext cx="914400" cy="320040"/>
          </a:xfrm>
          <a:prstGeom prst="round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35327" y="2743200"/>
            <a:ext cx="914400" cy="320040"/>
          </a:xfrm>
          <a:prstGeom prst="rect">
            <a:avLst/>
          </a:prstGeom>
          <a:noFill/>
        </p:spPr>
        <p:txBody>
          <a:bodyPr wrap="square">
            <a:spAutoFit/>
          </a:bodyPr>
          <a:lstStyle/>
          <a:p>
            <a:pPr algn="ctr">
              <a:defRPr sz="1100" b="1">
                <a:solidFill>
                  <a:srgbClr val="FFFFFF"/>
                </a:solidFill>
                <a:latin typeface="Calibri"/>
              </a:defRPr>
            </a:pPr>
            <a:r>
              <a:t>Weight: 50%</a:t>
            </a:r>
          </a:p>
        </p:txBody>
      </p:sp>
      <p:sp>
        <p:nvSpPr>
          <p:cNvPr id="9" name="TextBox 8"/>
          <p:cNvSpPr txBox="1"/>
          <p:nvPr/>
        </p:nvSpPr>
        <p:spPr>
          <a:xfrm>
            <a:off x="883767" y="3291840"/>
            <a:ext cx="3017520" cy="1097280"/>
          </a:xfrm>
          <a:prstGeom prst="rect">
            <a:avLst/>
          </a:prstGeom>
          <a:noFill/>
        </p:spPr>
        <p:txBody>
          <a:bodyPr wrap="square">
            <a:spAutoFit/>
          </a:bodyPr>
          <a:lstStyle/>
          <a:p>
            <a:pPr algn="l">
              <a:defRPr sz="1200" b="0">
                <a:solidFill>
                  <a:srgbClr val="CBD5E1"/>
                </a:solidFill>
                <a:latin typeface="Calibri"/>
              </a:defRPr>
            </a:pPr>
            <a:r>
              <a:t>Computes movie-movie cosine similarity from the user-movie rating matrix. Movies liked by similar users are recommended.</a:t>
            </a:r>
          </a:p>
        </p:txBody>
      </p:sp>
      <p:sp>
        <p:nvSpPr>
          <p:cNvPr id="10" name="TextBox 9"/>
          <p:cNvSpPr txBox="1"/>
          <p:nvPr/>
        </p:nvSpPr>
        <p:spPr>
          <a:xfrm>
            <a:off x="883767" y="4480560"/>
            <a:ext cx="3017520" cy="274320"/>
          </a:xfrm>
          <a:prstGeom prst="rect">
            <a:avLst/>
          </a:prstGeom>
          <a:noFill/>
        </p:spPr>
        <p:txBody>
          <a:bodyPr wrap="square">
            <a:spAutoFit/>
          </a:bodyPr>
          <a:lstStyle/>
          <a:p>
            <a:pPr algn="l">
              <a:defRPr sz="1300" b="1">
                <a:solidFill>
                  <a:srgbClr val="38BDF8"/>
                </a:solidFill>
                <a:latin typeface="Calibri"/>
              </a:defRPr>
            </a:pPr>
            <a:r>
              <a:t>How it works:</a:t>
            </a:r>
          </a:p>
        </p:txBody>
      </p:sp>
      <p:sp>
        <p:nvSpPr>
          <p:cNvPr id="11" name="TextBox 10"/>
          <p:cNvSpPr txBox="1"/>
          <p:nvPr/>
        </p:nvSpPr>
        <p:spPr>
          <a:xfrm>
            <a:off x="883767" y="4846320"/>
            <a:ext cx="3017520" cy="1371600"/>
          </a:xfrm>
          <a:prstGeom prst="rect">
            <a:avLst/>
          </a:prstGeom>
          <a:noFill/>
        </p:spPr>
        <p:txBody>
          <a:bodyPr wrap="square">
            <a:spAutoFit/>
          </a:bodyPr>
          <a:lstStyle/>
          <a:p>
            <a:pPr>
              <a:spcAft>
                <a:spcPts val="500"/>
              </a:spcAft>
              <a:defRPr sz="1100">
                <a:solidFill>
                  <a:srgbClr val="94A3B8"/>
                </a:solidFill>
                <a:latin typeface="Calibri"/>
              </a:defRPr>
            </a:pPr>
            <a:r>
              <a:t>1. Build user×movie rating matrix</a:t>
            </a:r>
          </a:p>
          <a:p>
            <a:pPr>
              <a:spcAft>
                <a:spcPts val="500"/>
              </a:spcAft>
              <a:defRPr sz="1100">
                <a:solidFill>
                  <a:srgbClr val="94A3B8"/>
                </a:solidFill>
                <a:latin typeface="Calibri"/>
              </a:defRPr>
            </a:pPr>
            <a:r>
              <a:t>2. Transpose to get movie vectors over users</a:t>
            </a:r>
          </a:p>
          <a:p>
            <a:pPr>
              <a:spcAft>
                <a:spcPts val="500"/>
              </a:spcAft>
              <a:defRPr sz="1100">
                <a:solidFill>
                  <a:srgbClr val="94A3B8"/>
                </a:solidFill>
                <a:latin typeface="Calibri"/>
              </a:defRPr>
            </a:pPr>
            <a:r>
              <a:t>3. Compute cosine similarity between all movies</a:t>
            </a:r>
          </a:p>
        </p:txBody>
      </p:sp>
      <p:sp>
        <p:nvSpPr>
          <p:cNvPr id="12" name="Rounded Rectangle 11"/>
          <p:cNvSpPr/>
          <p:nvPr/>
        </p:nvSpPr>
        <p:spPr>
          <a:xfrm>
            <a:off x="4358487" y="1554480"/>
            <a:ext cx="3474720" cy="4846320"/>
          </a:xfrm>
          <a:prstGeom prst="roundRect">
            <a:avLst/>
          </a:prstGeom>
          <a:solidFill>
            <a:srgbClr val="1A253C"/>
          </a:solidFill>
          <a:ln w="1905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58487" y="1737360"/>
            <a:ext cx="3474720" cy="457200"/>
          </a:xfrm>
          <a:prstGeom prst="rect">
            <a:avLst/>
          </a:prstGeom>
          <a:noFill/>
        </p:spPr>
        <p:txBody>
          <a:bodyPr wrap="square">
            <a:spAutoFit/>
          </a:bodyPr>
          <a:lstStyle/>
          <a:p>
            <a:pPr algn="ctr">
              <a:defRPr sz="3200" b="0">
                <a:solidFill>
                  <a:srgbClr val="FFFFFF"/>
                </a:solidFill>
                <a:latin typeface="Calibri"/>
              </a:defRPr>
            </a:pPr>
            <a:r>
              <a:t>🧮</a:t>
            </a:r>
          </a:p>
        </p:txBody>
      </p:sp>
      <p:sp>
        <p:nvSpPr>
          <p:cNvPr id="14" name="TextBox 13"/>
          <p:cNvSpPr txBox="1"/>
          <p:nvPr/>
        </p:nvSpPr>
        <p:spPr>
          <a:xfrm>
            <a:off x="4358487" y="2286000"/>
            <a:ext cx="3474720" cy="365760"/>
          </a:xfrm>
          <a:prstGeom prst="rect">
            <a:avLst/>
          </a:prstGeom>
          <a:noFill/>
        </p:spPr>
        <p:txBody>
          <a:bodyPr wrap="square">
            <a:spAutoFit/>
          </a:bodyPr>
          <a:lstStyle/>
          <a:p>
            <a:pPr algn="ctr">
              <a:defRPr sz="1700" b="1">
                <a:solidFill>
                  <a:srgbClr val="A78BFA"/>
                </a:solidFill>
                <a:latin typeface="Calibri"/>
              </a:defRPr>
            </a:pPr>
            <a:r>
              <a:t>SVD (Matrix Factorization)</a:t>
            </a:r>
          </a:p>
        </p:txBody>
      </p:sp>
      <p:sp>
        <p:nvSpPr>
          <p:cNvPr id="15" name="Rounded Rectangle 14"/>
          <p:cNvSpPr/>
          <p:nvPr/>
        </p:nvSpPr>
        <p:spPr>
          <a:xfrm>
            <a:off x="5638647" y="2743200"/>
            <a:ext cx="914400" cy="320040"/>
          </a:xfrm>
          <a:prstGeom prst="round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38647" y="2743200"/>
            <a:ext cx="914400" cy="320040"/>
          </a:xfrm>
          <a:prstGeom prst="rect">
            <a:avLst/>
          </a:prstGeom>
          <a:noFill/>
        </p:spPr>
        <p:txBody>
          <a:bodyPr wrap="square">
            <a:spAutoFit/>
          </a:bodyPr>
          <a:lstStyle/>
          <a:p>
            <a:pPr algn="ctr">
              <a:defRPr sz="1100" b="1">
                <a:solidFill>
                  <a:srgbClr val="FFFFFF"/>
                </a:solidFill>
                <a:latin typeface="Calibri"/>
              </a:defRPr>
            </a:pPr>
            <a:r>
              <a:t>Weight: 30%</a:t>
            </a:r>
          </a:p>
        </p:txBody>
      </p:sp>
      <p:sp>
        <p:nvSpPr>
          <p:cNvPr id="17" name="TextBox 16"/>
          <p:cNvSpPr txBox="1"/>
          <p:nvPr/>
        </p:nvSpPr>
        <p:spPr>
          <a:xfrm>
            <a:off x="4587087" y="3291840"/>
            <a:ext cx="3017520" cy="1097280"/>
          </a:xfrm>
          <a:prstGeom prst="rect">
            <a:avLst/>
          </a:prstGeom>
          <a:noFill/>
        </p:spPr>
        <p:txBody>
          <a:bodyPr wrap="square">
            <a:spAutoFit/>
          </a:bodyPr>
          <a:lstStyle/>
          <a:p>
            <a:pPr algn="l">
              <a:defRPr sz="1200" b="0">
                <a:solidFill>
                  <a:srgbClr val="CBD5E1"/>
                </a:solidFill>
                <a:latin typeface="Calibri"/>
              </a:defRPr>
            </a:pPr>
            <a:r>
              <a:t>Uses TruncatedSVD to extract 50 latent features, then computes cosine similarity on the compressed embeddings.</a:t>
            </a:r>
          </a:p>
        </p:txBody>
      </p:sp>
      <p:sp>
        <p:nvSpPr>
          <p:cNvPr id="18" name="TextBox 17"/>
          <p:cNvSpPr txBox="1"/>
          <p:nvPr/>
        </p:nvSpPr>
        <p:spPr>
          <a:xfrm>
            <a:off x="4587087" y="4480560"/>
            <a:ext cx="3017520" cy="274320"/>
          </a:xfrm>
          <a:prstGeom prst="rect">
            <a:avLst/>
          </a:prstGeom>
          <a:noFill/>
        </p:spPr>
        <p:txBody>
          <a:bodyPr wrap="square">
            <a:spAutoFit/>
          </a:bodyPr>
          <a:lstStyle/>
          <a:p>
            <a:pPr algn="l">
              <a:defRPr sz="1300" b="1">
                <a:solidFill>
                  <a:srgbClr val="A78BFA"/>
                </a:solidFill>
                <a:latin typeface="Calibri"/>
              </a:defRPr>
            </a:pPr>
            <a:r>
              <a:t>How it works:</a:t>
            </a:r>
          </a:p>
        </p:txBody>
      </p:sp>
      <p:sp>
        <p:nvSpPr>
          <p:cNvPr id="19" name="TextBox 18"/>
          <p:cNvSpPr txBox="1"/>
          <p:nvPr/>
        </p:nvSpPr>
        <p:spPr>
          <a:xfrm>
            <a:off x="4587087" y="4846320"/>
            <a:ext cx="3017520" cy="1371600"/>
          </a:xfrm>
          <a:prstGeom prst="rect">
            <a:avLst/>
          </a:prstGeom>
          <a:noFill/>
        </p:spPr>
        <p:txBody>
          <a:bodyPr wrap="square">
            <a:spAutoFit/>
          </a:bodyPr>
          <a:lstStyle/>
          <a:p>
            <a:pPr>
              <a:spcAft>
                <a:spcPts val="500"/>
              </a:spcAft>
              <a:defRPr sz="1100">
                <a:solidFill>
                  <a:srgbClr val="94A3B8"/>
                </a:solidFill>
                <a:latin typeface="Calibri"/>
              </a:defRPr>
            </a:pPr>
            <a:r>
              <a:t>1. Transpose user-movie matrix (rows=movies)</a:t>
            </a:r>
          </a:p>
          <a:p>
            <a:pPr>
              <a:spcAft>
                <a:spcPts val="500"/>
              </a:spcAft>
              <a:defRPr sz="1100">
                <a:solidFill>
                  <a:srgbClr val="94A3B8"/>
                </a:solidFill>
                <a:latin typeface="Calibri"/>
              </a:defRPr>
            </a:pPr>
            <a:r>
              <a:t>2. Apply TruncatedSVD (n_components=50)</a:t>
            </a:r>
          </a:p>
          <a:p>
            <a:pPr>
              <a:spcAft>
                <a:spcPts val="500"/>
              </a:spcAft>
              <a:defRPr sz="1100">
                <a:solidFill>
                  <a:srgbClr val="94A3B8"/>
                </a:solidFill>
                <a:latin typeface="Calibri"/>
              </a:defRPr>
            </a:pPr>
            <a:r>
              <a:t>3. Cosine similarity on movie embeddings</a:t>
            </a:r>
          </a:p>
        </p:txBody>
      </p:sp>
      <p:sp>
        <p:nvSpPr>
          <p:cNvPr id="20" name="Rounded Rectangle 19"/>
          <p:cNvSpPr/>
          <p:nvPr/>
        </p:nvSpPr>
        <p:spPr>
          <a:xfrm>
            <a:off x="8061807" y="1554480"/>
            <a:ext cx="3474720" cy="4846320"/>
          </a:xfrm>
          <a:prstGeom prst="roundRect">
            <a:avLst/>
          </a:prstGeom>
          <a:solidFill>
            <a:srgbClr val="1A253C"/>
          </a:solidFill>
          <a:ln w="1905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61807" y="1737360"/>
            <a:ext cx="3474720" cy="457200"/>
          </a:xfrm>
          <a:prstGeom prst="rect">
            <a:avLst/>
          </a:prstGeom>
          <a:noFill/>
        </p:spPr>
        <p:txBody>
          <a:bodyPr wrap="square">
            <a:spAutoFit/>
          </a:bodyPr>
          <a:lstStyle/>
          <a:p>
            <a:pPr algn="ctr">
              <a:defRPr sz="3200" b="0">
                <a:solidFill>
                  <a:srgbClr val="FFFFFF"/>
                </a:solidFill>
                <a:latin typeface="Calibri"/>
              </a:defRPr>
            </a:pPr>
            <a:r>
              <a:t>🎭</a:t>
            </a:r>
          </a:p>
        </p:txBody>
      </p:sp>
      <p:sp>
        <p:nvSpPr>
          <p:cNvPr id="22" name="TextBox 21"/>
          <p:cNvSpPr txBox="1"/>
          <p:nvPr/>
        </p:nvSpPr>
        <p:spPr>
          <a:xfrm>
            <a:off x="8061807" y="2286000"/>
            <a:ext cx="3474720" cy="365760"/>
          </a:xfrm>
          <a:prstGeom prst="rect">
            <a:avLst/>
          </a:prstGeom>
          <a:noFill/>
        </p:spPr>
        <p:txBody>
          <a:bodyPr wrap="square">
            <a:spAutoFit/>
          </a:bodyPr>
          <a:lstStyle/>
          <a:p>
            <a:pPr algn="ctr">
              <a:defRPr sz="1700" b="1">
                <a:solidFill>
                  <a:srgbClr val="34D399"/>
                </a:solidFill>
                <a:latin typeface="Calibri"/>
              </a:defRPr>
            </a:pPr>
            <a:r>
              <a:t>Content-Based Filtering</a:t>
            </a:r>
          </a:p>
        </p:txBody>
      </p:sp>
      <p:sp>
        <p:nvSpPr>
          <p:cNvPr id="23" name="Rounded Rectangle 22"/>
          <p:cNvSpPr/>
          <p:nvPr/>
        </p:nvSpPr>
        <p:spPr>
          <a:xfrm>
            <a:off x="9341967" y="2743200"/>
            <a:ext cx="914400" cy="320040"/>
          </a:xfrm>
          <a:prstGeom prst="round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41967" y="2743200"/>
            <a:ext cx="914400" cy="320040"/>
          </a:xfrm>
          <a:prstGeom prst="rect">
            <a:avLst/>
          </a:prstGeom>
          <a:noFill/>
        </p:spPr>
        <p:txBody>
          <a:bodyPr wrap="square">
            <a:spAutoFit/>
          </a:bodyPr>
          <a:lstStyle/>
          <a:p>
            <a:pPr algn="ctr">
              <a:defRPr sz="1100" b="1">
                <a:solidFill>
                  <a:srgbClr val="FFFFFF"/>
                </a:solidFill>
                <a:latin typeface="Calibri"/>
              </a:defRPr>
            </a:pPr>
            <a:r>
              <a:t>Weight: 20%</a:t>
            </a:r>
          </a:p>
        </p:txBody>
      </p:sp>
      <p:sp>
        <p:nvSpPr>
          <p:cNvPr id="25" name="TextBox 24"/>
          <p:cNvSpPr txBox="1"/>
          <p:nvPr/>
        </p:nvSpPr>
        <p:spPr>
          <a:xfrm>
            <a:off x="8290407" y="3291840"/>
            <a:ext cx="3017520" cy="1097280"/>
          </a:xfrm>
          <a:prstGeom prst="rect">
            <a:avLst/>
          </a:prstGeom>
          <a:noFill/>
        </p:spPr>
        <p:txBody>
          <a:bodyPr wrap="square">
            <a:spAutoFit/>
          </a:bodyPr>
          <a:lstStyle/>
          <a:p>
            <a:pPr algn="l">
              <a:defRPr sz="1200" b="0">
                <a:solidFill>
                  <a:srgbClr val="CBD5E1"/>
                </a:solidFill>
                <a:latin typeface="Calibri"/>
              </a:defRPr>
            </a:pPr>
            <a:r>
              <a:t>Multi-label binarizes movie genres and computes cosine similarity on genre vectors. Recommends movies with similar genres.</a:t>
            </a:r>
          </a:p>
        </p:txBody>
      </p:sp>
      <p:sp>
        <p:nvSpPr>
          <p:cNvPr id="26" name="TextBox 25"/>
          <p:cNvSpPr txBox="1"/>
          <p:nvPr/>
        </p:nvSpPr>
        <p:spPr>
          <a:xfrm>
            <a:off x="8290407" y="4480560"/>
            <a:ext cx="3017520" cy="274320"/>
          </a:xfrm>
          <a:prstGeom prst="rect">
            <a:avLst/>
          </a:prstGeom>
          <a:noFill/>
        </p:spPr>
        <p:txBody>
          <a:bodyPr wrap="square">
            <a:spAutoFit/>
          </a:bodyPr>
          <a:lstStyle/>
          <a:p>
            <a:pPr algn="l">
              <a:defRPr sz="1300" b="1">
                <a:solidFill>
                  <a:srgbClr val="34D399"/>
                </a:solidFill>
                <a:latin typeface="Calibri"/>
              </a:defRPr>
            </a:pPr>
            <a:r>
              <a:t>How it works:</a:t>
            </a:r>
          </a:p>
        </p:txBody>
      </p:sp>
      <p:sp>
        <p:nvSpPr>
          <p:cNvPr id="27" name="TextBox 26"/>
          <p:cNvSpPr txBox="1"/>
          <p:nvPr/>
        </p:nvSpPr>
        <p:spPr>
          <a:xfrm>
            <a:off x="8290407" y="4846320"/>
            <a:ext cx="3017520" cy="1371600"/>
          </a:xfrm>
          <a:prstGeom prst="rect">
            <a:avLst/>
          </a:prstGeom>
          <a:noFill/>
        </p:spPr>
        <p:txBody>
          <a:bodyPr wrap="square">
            <a:spAutoFit/>
          </a:bodyPr>
          <a:lstStyle/>
          <a:p>
            <a:pPr>
              <a:spcAft>
                <a:spcPts val="500"/>
              </a:spcAft>
              <a:defRPr sz="1100">
                <a:solidFill>
                  <a:srgbClr val="94A3B8"/>
                </a:solidFill>
                <a:latin typeface="Calibri"/>
              </a:defRPr>
            </a:pPr>
            <a:r>
              <a:t>1. Parse genres into multi-label sets</a:t>
            </a:r>
          </a:p>
          <a:p>
            <a:pPr>
              <a:spcAft>
                <a:spcPts val="500"/>
              </a:spcAft>
              <a:defRPr sz="1100">
                <a:solidFill>
                  <a:srgbClr val="94A3B8"/>
                </a:solidFill>
                <a:latin typeface="Calibri"/>
              </a:defRPr>
            </a:pPr>
            <a:r>
              <a:t>2. Binarize with MultiLabelBinarizer</a:t>
            </a:r>
          </a:p>
          <a:p>
            <a:pPr>
              <a:spcAft>
                <a:spcPts val="500"/>
              </a:spcAft>
              <a:defRPr sz="1100">
                <a:solidFill>
                  <a:srgbClr val="94A3B8"/>
                </a:solidFill>
                <a:latin typeface="Calibri"/>
              </a:defRPr>
            </a:pPr>
            <a:r>
              <a:t>3. Cosine similarity on genre vectors</a:t>
            </a:r>
          </a:p>
        </p:txBody>
      </p:sp>
      <p:sp>
        <p:nvSpPr>
          <p:cNvPr id="28" name="Rounded Rectangle 27"/>
          <p:cNvSpPr/>
          <p:nvPr/>
        </p:nvSpPr>
        <p:spPr>
          <a:xfrm>
            <a:off x="1828800" y="6537960"/>
            <a:ext cx="8503920" cy="22860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828800" y="6537960"/>
            <a:ext cx="8503920" cy="228600"/>
          </a:xfrm>
          <a:prstGeom prst="rect">
            <a:avLst/>
          </a:prstGeom>
          <a:noFill/>
        </p:spPr>
        <p:txBody>
          <a:bodyPr wrap="square">
            <a:spAutoFit/>
          </a:bodyPr>
          <a:lstStyle/>
          <a:p>
            <a:pPr algn="ctr">
              <a:defRPr sz="1300" b="1">
                <a:solidFill>
                  <a:srgbClr val="FBBF24"/>
                </a:solidFill>
                <a:latin typeface="Calibri"/>
              </a:defRPr>
            </a:pPr>
            <a:r>
              <a:t>Hybrid Score = 0.5 × Collaborative + 0.3 × SVD + 0.2 × Content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7315200" cy="640080"/>
          </a:xfrm>
          <a:prstGeom prst="rect">
            <a:avLst/>
          </a:prstGeom>
          <a:noFill/>
        </p:spPr>
        <p:txBody>
          <a:bodyPr wrap="square">
            <a:spAutoFit/>
          </a:bodyPr>
          <a:lstStyle/>
          <a:p>
            <a:pPr algn="l">
              <a:defRPr sz="3600" b="1">
                <a:solidFill>
                  <a:srgbClr val="FFFFFF"/>
                </a:solidFill>
                <a:latin typeface="Calibri"/>
              </a:defRPr>
            </a:pPr>
            <a:r>
              <a:t>04  Tech Stack</a:t>
            </a:r>
          </a:p>
        </p:txBody>
      </p:sp>
      <p:sp>
        <p:nvSpPr>
          <p:cNvPr id="3" name="Rectangle 2"/>
          <p:cNvSpPr/>
          <p:nvPr/>
        </p:nvSpPr>
        <p:spPr>
          <a:xfrm>
            <a:off x="731520" y="1097280"/>
            <a:ext cx="2286000" cy="3810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5303520" cy="4846320"/>
          </a:xfrm>
          <a:prstGeom prst="roundRect">
            <a:avLst/>
          </a:prstGeom>
          <a:solidFill>
            <a:srgbClr val="1A253C"/>
          </a:solidFill>
          <a:ln w="1905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737360"/>
            <a:ext cx="4572000" cy="365760"/>
          </a:xfrm>
          <a:prstGeom prst="rect">
            <a:avLst/>
          </a:prstGeom>
          <a:noFill/>
        </p:spPr>
        <p:txBody>
          <a:bodyPr wrap="square">
            <a:spAutoFit/>
          </a:bodyPr>
          <a:lstStyle/>
          <a:p>
            <a:pPr algn="l">
              <a:defRPr sz="2200" b="1">
                <a:solidFill>
                  <a:srgbClr val="38BDF8"/>
                </a:solidFill>
                <a:latin typeface="Calibri"/>
              </a:defRPr>
            </a:pPr>
            <a:r>
              <a:t>⚛️  Frontend</a:t>
            </a:r>
          </a:p>
        </p:txBody>
      </p:sp>
      <p:sp>
        <p:nvSpPr>
          <p:cNvPr id="6" name="TextBox 5"/>
          <p:cNvSpPr txBox="1"/>
          <p:nvPr/>
        </p:nvSpPr>
        <p:spPr>
          <a:xfrm>
            <a:off x="1280160" y="2286000"/>
            <a:ext cx="2011680" cy="320040"/>
          </a:xfrm>
          <a:prstGeom prst="rect">
            <a:avLst/>
          </a:prstGeom>
          <a:noFill/>
        </p:spPr>
        <p:txBody>
          <a:bodyPr wrap="square">
            <a:spAutoFit/>
          </a:bodyPr>
          <a:lstStyle/>
          <a:p>
            <a:pPr algn="l">
              <a:defRPr sz="1400" b="1">
                <a:solidFill>
                  <a:srgbClr val="FFFFFF"/>
                </a:solidFill>
                <a:latin typeface="Calibri"/>
              </a:defRPr>
            </a:pPr>
            <a:r>
              <a:t>▸ React (Vite)</a:t>
            </a:r>
          </a:p>
        </p:txBody>
      </p:sp>
      <p:sp>
        <p:nvSpPr>
          <p:cNvPr id="7" name="TextBox 6"/>
          <p:cNvSpPr txBox="1"/>
          <p:nvPr/>
        </p:nvSpPr>
        <p:spPr>
          <a:xfrm>
            <a:off x="3291840" y="2286000"/>
            <a:ext cx="2560320" cy="320040"/>
          </a:xfrm>
          <a:prstGeom prst="rect">
            <a:avLst/>
          </a:prstGeom>
          <a:noFill/>
        </p:spPr>
        <p:txBody>
          <a:bodyPr wrap="square">
            <a:spAutoFit/>
          </a:bodyPr>
          <a:lstStyle/>
          <a:p>
            <a:pPr algn="l">
              <a:defRPr sz="1200" b="0">
                <a:solidFill>
                  <a:srgbClr val="94A3B8"/>
                </a:solidFill>
                <a:latin typeface="Calibri"/>
              </a:defRPr>
            </a:pPr>
            <a:r>
              <a:t>Fast dev server, HMR, optimized builds</a:t>
            </a:r>
          </a:p>
        </p:txBody>
      </p:sp>
      <p:sp>
        <p:nvSpPr>
          <p:cNvPr id="8" name="TextBox 7"/>
          <p:cNvSpPr txBox="1"/>
          <p:nvPr/>
        </p:nvSpPr>
        <p:spPr>
          <a:xfrm>
            <a:off x="1280160" y="3017520"/>
            <a:ext cx="2011680" cy="320040"/>
          </a:xfrm>
          <a:prstGeom prst="rect">
            <a:avLst/>
          </a:prstGeom>
          <a:noFill/>
        </p:spPr>
        <p:txBody>
          <a:bodyPr wrap="square">
            <a:spAutoFit/>
          </a:bodyPr>
          <a:lstStyle/>
          <a:p>
            <a:pPr algn="l">
              <a:defRPr sz="1400" b="1">
                <a:solidFill>
                  <a:srgbClr val="FFFFFF"/>
                </a:solidFill>
                <a:latin typeface="Calibri"/>
              </a:defRPr>
            </a:pPr>
            <a:r>
              <a:t>▸ Tailwind CSS</a:t>
            </a:r>
          </a:p>
        </p:txBody>
      </p:sp>
      <p:sp>
        <p:nvSpPr>
          <p:cNvPr id="9" name="TextBox 8"/>
          <p:cNvSpPr txBox="1"/>
          <p:nvPr/>
        </p:nvSpPr>
        <p:spPr>
          <a:xfrm>
            <a:off x="3291840" y="3017520"/>
            <a:ext cx="2560320" cy="320040"/>
          </a:xfrm>
          <a:prstGeom prst="rect">
            <a:avLst/>
          </a:prstGeom>
          <a:noFill/>
        </p:spPr>
        <p:txBody>
          <a:bodyPr wrap="square">
            <a:spAutoFit/>
          </a:bodyPr>
          <a:lstStyle/>
          <a:p>
            <a:pPr algn="l">
              <a:defRPr sz="1200" b="0">
                <a:solidFill>
                  <a:srgbClr val="94A3B8"/>
                </a:solidFill>
                <a:latin typeface="Calibri"/>
              </a:defRPr>
            </a:pPr>
            <a:r>
              <a:t>Utility-first responsive styling</a:t>
            </a:r>
          </a:p>
        </p:txBody>
      </p:sp>
      <p:sp>
        <p:nvSpPr>
          <p:cNvPr id="10" name="TextBox 9"/>
          <p:cNvSpPr txBox="1"/>
          <p:nvPr/>
        </p:nvSpPr>
        <p:spPr>
          <a:xfrm>
            <a:off x="1280160" y="3749040"/>
            <a:ext cx="2011680" cy="320040"/>
          </a:xfrm>
          <a:prstGeom prst="rect">
            <a:avLst/>
          </a:prstGeom>
          <a:noFill/>
        </p:spPr>
        <p:txBody>
          <a:bodyPr wrap="square">
            <a:spAutoFit/>
          </a:bodyPr>
          <a:lstStyle/>
          <a:p>
            <a:pPr algn="l">
              <a:defRPr sz="1400" b="1">
                <a:solidFill>
                  <a:srgbClr val="FFFFFF"/>
                </a:solidFill>
                <a:latin typeface="Calibri"/>
              </a:defRPr>
            </a:pPr>
            <a:r>
              <a:t>▸ react-force-graph-2d</a:t>
            </a:r>
          </a:p>
        </p:txBody>
      </p:sp>
      <p:sp>
        <p:nvSpPr>
          <p:cNvPr id="11" name="TextBox 10"/>
          <p:cNvSpPr txBox="1"/>
          <p:nvPr/>
        </p:nvSpPr>
        <p:spPr>
          <a:xfrm>
            <a:off x="3291840" y="3749040"/>
            <a:ext cx="2560320" cy="320040"/>
          </a:xfrm>
          <a:prstGeom prst="rect">
            <a:avLst/>
          </a:prstGeom>
          <a:noFill/>
        </p:spPr>
        <p:txBody>
          <a:bodyPr wrap="square">
            <a:spAutoFit/>
          </a:bodyPr>
          <a:lstStyle/>
          <a:p>
            <a:pPr algn="l">
              <a:defRPr sz="1200" b="0">
                <a:solidFill>
                  <a:srgbClr val="94A3B8"/>
                </a:solidFill>
                <a:latin typeface="Calibri"/>
              </a:defRPr>
            </a:pPr>
            <a:r>
              <a:t>D3-powered interactive similarity graphs</a:t>
            </a:r>
          </a:p>
        </p:txBody>
      </p:sp>
      <p:sp>
        <p:nvSpPr>
          <p:cNvPr id="12" name="TextBox 11"/>
          <p:cNvSpPr txBox="1"/>
          <p:nvPr/>
        </p:nvSpPr>
        <p:spPr>
          <a:xfrm>
            <a:off x="1280160" y="4480560"/>
            <a:ext cx="2011680" cy="320040"/>
          </a:xfrm>
          <a:prstGeom prst="rect">
            <a:avLst/>
          </a:prstGeom>
          <a:noFill/>
        </p:spPr>
        <p:txBody>
          <a:bodyPr wrap="square">
            <a:spAutoFit/>
          </a:bodyPr>
          <a:lstStyle/>
          <a:p>
            <a:pPr algn="l">
              <a:defRPr sz="1400" b="1">
                <a:solidFill>
                  <a:srgbClr val="FFFFFF"/>
                </a:solidFill>
                <a:latin typeface="Calibri"/>
              </a:defRPr>
            </a:pPr>
            <a:r>
              <a:t>▸ Axios</a:t>
            </a:r>
          </a:p>
        </p:txBody>
      </p:sp>
      <p:sp>
        <p:nvSpPr>
          <p:cNvPr id="13" name="TextBox 12"/>
          <p:cNvSpPr txBox="1"/>
          <p:nvPr/>
        </p:nvSpPr>
        <p:spPr>
          <a:xfrm>
            <a:off x="3291840" y="4480560"/>
            <a:ext cx="2560320" cy="320040"/>
          </a:xfrm>
          <a:prstGeom prst="rect">
            <a:avLst/>
          </a:prstGeom>
          <a:noFill/>
        </p:spPr>
        <p:txBody>
          <a:bodyPr wrap="square">
            <a:spAutoFit/>
          </a:bodyPr>
          <a:lstStyle/>
          <a:p>
            <a:pPr algn="l">
              <a:defRPr sz="1200" b="0">
                <a:solidFill>
                  <a:srgbClr val="94A3B8"/>
                </a:solidFill>
                <a:latin typeface="Calibri"/>
              </a:defRPr>
            </a:pPr>
            <a:r>
              <a:t>HTTP client for API communication</a:t>
            </a:r>
          </a:p>
        </p:txBody>
      </p:sp>
      <p:sp>
        <p:nvSpPr>
          <p:cNvPr id="14" name="TextBox 13"/>
          <p:cNvSpPr txBox="1"/>
          <p:nvPr/>
        </p:nvSpPr>
        <p:spPr>
          <a:xfrm>
            <a:off x="1280160" y="5212080"/>
            <a:ext cx="2011680" cy="320040"/>
          </a:xfrm>
          <a:prstGeom prst="rect">
            <a:avLst/>
          </a:prstGeom>
          <a:noFill/>
        </p:spPr>
        <p:txBody>
          <a:bodyPr wrap="square">
            <a:spAutoFit/>
          </a:bodyPr>
          <a:lstStyle/>
          <a:p>
            <a:pPr algn="l">
              <a:defRPr sz="1400" b="1">
                <a:solidFill>
                  <a:srgbClr val="FFFFFF"/>
                </a:solidFill>
                <a:latin typeface="Calibri"/>
              </a:defRPr>
            </a:pPr>
            <a:r>
              <a:t>▸ React Router</a:t>
            </a:r>
          </a:p>
        </p:txBody>
      </p:sp>
      <p:sp>
        <p:nvSpPr>
          <p:cNvPr id="15" name="TextBox 14"/>
          <p:cNvSpPr txBox="1"/>
          <p:nvPr/>
        </p:nvSpPr>
        <p:spPr>
          <a:xfrm>
            <a:off x="3291840" y="5212080"/>
            <a:ext cx="2560320" cy="320040"/>
          </a:xfrm>
          <a:prstGeom prst="rect">
            <a:avLst/>
          </a:prstGeom>
          <a:noFill/>
        </p:spPr>
        <p:txBody>
          <a:bodyPr wrap="square">
            <a:spAutoFit/>
          </a:bodyPr>
          <a:lstStyle/>
          <a:p>
            <a:pPr algn="l">
              <a:defRPr sz="1200" b="0">
                <a:solidFill>
                  <a:srgbClr val="94A3B8"/>
                </a:solidFill>
                <a:latin typeface="Calibri"/>
              </a:defRPr>
            </a:pPr>
            <a:r>
              <a:t>Client-side routing for SPA navigation</a:t>
            </a:r>
          </a:p>
        </p:txBody>
      </p:sp>
      <p:sp>
        <p:nvSpPr>
          <p:cNvPr id="16" name="Rounded Rectangle 15"/>
          <p:cNvSpPr/>
          <p:nvPr/>
        </p:nvSpPr>
        <p:spPr>
          <a:xfrm>
            <a:off x="6400800" y="1554480"/>
            <a:ext cx="5029200" cy="4846320"/>
          </a:xfrm>
          <a:prstGeom prst="roundRect">
            <a:avLst/>
          </a:prstGeom>
          <a:solidFill>
            <a:srgbClr val="1A253C"/>
          </a:solidFill>
          <a:ln w="1905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66560" y="1737360"/>
            <a:ext cx="4572000" cy="365760"/>
          </a:xfrm>
          <a:prstGeom prst="rect">
            <a:avLst/>
          </a:prstGeom>
          <a:noFill/>
        </p:spPr>
        <p:txBody>
          <a:bodyPr wrap="square">
            <a:spAutoFit/>
          </a:bodyPr>
          <a:lstStyle/>
          <a:p>
            <a:pPr algn="l">
              <a:defRPr sz="2200" b="1">
                <a:solidFill>
                  <a:srgbClr val="34D399"/>
                </a:solidFill>
                <a:latin typeface="Calibri"/>
              </a:defRPr>
            </a:pPr>
            <a:r>
              <a:t>🐍  Backend &amp; ML</a:t>
            </a:r>
          </a:p>
        </p:txBody>
      </p:sp>
      <p:sp>
        <p:nvSpPr>
          <p:cNvPr id="18" name="TextBox 17"/>
          <p:cNvSpPr txBox="1"/>
          <p:nvPr/>
        </p:nvSpPr>
        <p:spPr>
          <a:xfrm>
            <a:off x="6949440" y="2286000"/>
            <a:ext cx="2011680" cy="320040"/>
          </a:xfrm>
          <a:prstGeom prst="rect">
            <a:avLst/>
          </a:prstGeom>
          <a:noFill/>
        </p:spPr>
        <p:txBody>
          <a:bodyPr wrap="square">
            <a:spAutoFit/>
          </a:bodyPr>
          <a:lstStyle/>
          <a:p>
            <a:pPr algn="l">
              <a:defRPr sz="1400" b="1">
                <a:solidFill>
                  <a:srgbClr val="FFFFFF"/>
                </a:solidFill>
                <a:latin typeface="Calibri"/>
              </a:defRPr>
            </a:pPr>
            <a:r>
              <a:t>▸ FastAPI</a:t>
            </a:r>
          </a:p>
        </p:txBody>
      </p:sp>
      <p:sp>
        <p:nvSpPr>
          <p:cNvPr id="19" name="TextBox 18"/>
          <p:cNvSpPr txBox="1"/>
          <p:nvPr/>
        </p:nvSpPr>
        <p:spPr>
          <a:xfrm>
            <a:off x="8961120" y="2286000"/>
            <a:ext cx="2286000" cy="320040"/>
          </a:xfrm>
          <a:prstGeom prst="rect">
            <a:avLst/>
          </a:prstGeom>
          <a:noFill/>
        </p:spPr>
        <p:txBody>
          <a:bodyPr wrap="square">
            <a:spAutoFit/>
          </a:bodyPr>
          <a:lstStyle/>
          <a:p>
            <a:pPr algn="l">
              <a:defRPr sz="1200" b="0">
                <a:solidFill>
                  <a:srgbClr val="94A3B8"/>
                </a:solidFill>
                <a:latin typeface="Calibri"/>
              </a:defRPr>
            </a:pPr>
            <a:r>
              <a:t>High-performance async Python web framework</a:t>
            </a:r>
          </a:p>
        </p:txBody>
      </p:sp>
      <p:sp>
        <p:nvSpPr>
          <p:cNvPr id="20" name="TextBox 19"/>
          <p:cNvSpPr txBox="1"/>
          <p:nvPr/>
        </p:nvSpPr>
        <p:spPr>
          <a:xfrm>
            <a:off x="6949440" y="3017520"/>
            <a:ext cx="2011680" cy="320040"/>
          </a:xfrm>
          <a:prstGeom prst="rect">
            <a:avLst/>
          </a:prstGeom>
          <a:noFill/>
        </p:spPr>
        <p:txBody>
          <a:bodyPr wrap="square">
            <a:spAutoFit/>
          </a:bodyPr>
          <a:lstStyle/>
          <a:p>
            <a:pPr algn="l">
              <a:defRPr sz="1400" b="1">
                <a:solidFill>
                  <a:srgbClr val="FFFFFF"/>
                </a:solidFill>
                <a:latin typeface="Calibri"/>
              </a:defRPr>
            </a:pPr>
            <a:r>
              <a:t>▸ Pandas</a:t>
            </a:r>
          </a:p>
        </p:txBody>
      </p:sp>
      <p:sp>
        <p:nvSpPr>
          <p:cNvPr id="21" name="TextBox 20"/>
          <p:cNvSpPr txBox="1"/>
          <p:nvPr/>
        </p:nvSpPr>
        <p:spPr>
          <a:xfrm>
            <a:off x="8961120" y="3017520"/>
            <a:ext cx="2286000" cy="320040"/>
          </a:xfrm>
          <a:prstGeom prst="rect">
            <a:avLst/>
          </a:prstGeom>
          <a:noFill/>
        </p:spPr>
        <p:txBody>
          <a:bodyPr wrap="square">
            <a:spAutoFit/>
          </a:bodyPr>
          <a:lstStyle/>
          <a:p>
            <a:pPr algn="l">
              <a:defRPr sz="1200" b="0">
                <a:solidFill>
                  <a:srgbClr val="94A3B8"/>
                </a:solidFill>
                <a:latin typeface="Calibri"/>
              </a:defRPr>
            </a:pPr>
            <a:r>
              <a:t>Data manipulation and analysis</a:t>
            </a:r>
          </a:p>
        </p:txBody>
      </p:sp>
      <p:sp>
        <p:nvSpPr>
          <p:cNvPr id="22" name="TextBox 21"/>
          <p:cNvSpPr txBox="1"/>
          <p:nvPr/>
        </p:nvSpPr>
        <p:spPr>
          <a:xfrm>
            <a:off x="6949440" y="3749040"/>
            <a:ext cx="2011680" cy="320040"/>
          </a:xfrm>
          <a:prstGeom prst="rect">
            <a:avLst/>
          </a:prstGeom>
          <a:noFill/>
        </p:spPr>
        <p:txBody>
          <a:bodyPr wrap="square">
            <a:spAutoFit/>
          </a:bodyPr>
          <a:lstStyle/>
          <a:p>
            <a:pPr algn="l">
              <a:defRPr sz="1400" b="1">
                <a:solidFill>
                  <a:srgbClr val="FFFFFF"/>
                </a:solidFill>
                <a:latin typeface="Calibri"/>
              </a:defRPr>
            </a:pPr>
            <a:r>
              <a:t>▸ Scikit-learn</a:t>
            </a:r>
          </a:p>
        </p:txBody>
      </p:sp>
      <p:sp>
        <p:nvSpPr>
          <p:cNvPr id="23" name="TextBox 22"/>
          <p:cNvSpPr txBox="1"/>
          <p:nvPr/>
        </p:nvSpPr>
        <p:spPr>
          <a:xfrm>
            <a:off x="8961120" y="3749040"/>
            <a:ext cx="2286000" cy="320040"/>
          </a:xfrm>
          <a:prstGeom prst="rect">
            <a:avLst/>
          </a:prstGeom>
          <a:noFill/>
        </p:spPr>
        <p:txBody>
          <a:bodyPr wrap="square">
            <a:spAutoFit/>
          </a:bodyPr>
          <a:lstStyle/>
          <a:p>
            <a:pPr algn="l">
              <a:defRPr sz="1200" b="0">
                <a:solidFill>
                  <a:srgbClr val="94A3B8"/>
                </a:solidFill>
                <a:latin typeface="Calibri"/>
              </a:defRPr>
            </a:pPr>
            <a:r>
              <a:t>Cosine similarity, SVD, ML binarizers</a:t>
            </a:r>
          </a:p>
        </p:txBody>
      </p:sp>
      <p:sp>
        <p:nvSpPr>
          <p:cNvPr id="24" name="TextBox 23"/>
          <p:cNvSpPr txBox="1"/>
          <p:nvPr/>
        </p:nvSpPr>
        <p:spPr>
          <a:xfrm>
            <a:off x="6949440" y="4480560"/>
            <a:ext cx="2011680" cy="320040"/>
          </a:xfrm>
          <a:prstGeom prst="rect">
            <a:avLst/>
          </a:prstGeom>
          <a:noFill/>
        </p:spPr>
        <p:txBody>
          <a:bodyPr wrap="square">
            <a:spAutoFit/>
          </a:bodyPr>
          <a:lstStyle/>
          <a:p>
            <a:pPr algn="l">
              <a:defRPr sz="1400" b="1">
                <a:solidFill>
                  <a:srgbClr val="FFFFFF"/>
                </a:solidFill>
                <a:latin typeface="Calibri"/>
              </a:defRPr>
            </a:pPr>
            <a:r>
              <a:t>▸ httpx</a:t>
            </a:r>
          </a:p>
        </p:txBody>
      </p:sp>
      <p:sp>
        <p:nvSpPr>
          <p:cNvPr id="25" name="TextBox 24"/>
          <p:cNvSpPr txBox="1"/>
          <p:nvPr/>
        </p:nvSpPr>
        <p:spPr>
          <a:xfrm>
            <a:off x="8961120" y="4480560"/>
            <a:ext cx="2286000" cy="320040"/>
          </a:xfrm>
          <a:prstGeom prst="rect">
            <a:avLst/>
          </a:prstGeom>
          <a:noFill/>
        </p:spPr>
        <p:txBody>
          <a:bodyPr wrap="square">
            <a:spAutoFit/>
          </a:bodyPr>
          <a:lstStyle/>
          <a:p>
            <a:pPr algn="l">
              <a:defRPr sz="1200" b="0">
                <a:solidFill>
                  <a:srgbClr val="94A3B8"/>
                </a:solidFill>
                <a:latin typeface="Calibri"/>
              </a:defRPr>
            </a:pPr>
            <a:r>
              <a:t>Async HTTP client for Wikipedia poster API</a:t>
            </a:r>
          </a:p>
        </p:txBody>
      </p:sp>
      <p:sp>
        <p:nvSpPr>
          <p:cNvPr id="26" name="TextBox 25"/>
          <p:cNvSpPr txBox="1"/>
          <p:nvPr/>
        </p:nvSpPr>
        <p:spPr>
          <a:xfrm>
            <a:off x="6949440" y="5212080"/>
            <a:ext cx="2011680" cy="320040"/>
          </a:xfrm>
          <a:prstGeom prst="rect">
            <a:avLst/>
          </a:prstGeom>
          <a:noFill/>
        </p:spPr>
        <p:txBody>
          <a:bodyPr wrap="square">
            <a:spAutoFit/>
          </a:bodyPr>
          <a:lstStyle/>
          <a:p>
            <a:pPr algn="l">
              <a:defRPr sz="1400" b="1">
                <a:solidFill>
                  <a:srgbClr val="FFFFFF"/>
                </a:solidFill>
                <a:latin typeface="Calibri"/>
              </a:defRPr>
            </a:pPr>
            <a:r>
              <a:t>▸ Pydantic</a:t>
            </a:r>
          </a:p>
        </p:txBody>
      </p:sp>
      <p:sp>
        <p:nvSpPr>
          <p:cNvPr id="27" name="TextBox 26"/>
          <p:cNvSpPr txBox="1"/>
          <p:nvPr/>
        </p:nvSpPr>
        <p:spPr>
          <a:xfrm>
            <a:off x="8961120" y="5212080"/>
            <a:ext cx="2286000" cy="320040"/>
          </a:xfrm>
          <a:prstGeom prst="rect">
            <a:avLst/>
          </a:prstGeom>
          <a:noFill/>
        </p:spPr>
        <p:txBody>
          <a:bodyPr wrap="square">
            <a:spAutoFit/>
          </a:bodyPr>
          <a:lstStyle/>
          <a:p>
            <a:pPr algn="l">
              <a:defRPr sz="1200" b="0">
                <a:solidFill>
                  <a:srgbClr val="94A3B8"/>
                </a:solidFill>
                <a:latin typeface="Calibri"/>
              </a:defRPr>
            </a:pPr>
            <a:r>
              <a:t>Data validation and API schemas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7315200" cy="640080"/>
          </a:xfrm>
          <a:prstGeom prst="rect">
            <a:avLst/>
          </a:prstGeom>
          <a:noFill/>
        </p:spPr>
        <p:txBody>
          <a:bodyPr wrap="square">
            <a:spAutoFit/>
          </a:bodyPr>
          <a:lstStyle/>
          <a:p>
            <a:pPr algn="l">
              <a:defRPr sz="3600" b="1">
                <a:solidFill>
                  <a:srgbClr val="FFFFFF"/>
                </a:solidFill>
                <a:latin typeface="Calibri"/>
              </a:defRPr>
            </a:pPr>
            <a:r>
              <a:t>05  Frontend Components</a:t>
            </a:r>
          </a:p>
        </p:txBody>
      </p:sp>
      <p:sp>
        <p:nvSpPr>
          <p:cNvPr id="3" name="Rectangle 2"/>
          <p:cNvSpPr/>
          <p:nvPr/>
        </p:nvSpPr>
        <p:spPr>
          <a:xfrm>
            <a:off x="731520" y="1097280"/>
            <a:ext cx="2743200" cy="38100"/>
          </a:xfrm>
          <a:prstGeom prst="rect">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32307" y="1554480"/>
            <a:ext cx="2560320" cy="2286000"/>
          </a:xfrm>
          <a:prstGeom prst="roundRect">
            <a:avLst/>
          </a:prstGeom>
          <a:solidFill>
            <a:srgbClr val="1A253C"/>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9467" y="1691640"/>
            <a:ext cx="2286000" cy="365760"/>
          </a:xfrm>
          <a:prstGeom prst="rect">
            <a:avLst/>
          </a:prstGeom>
          <a:noFill/>
        </p:spPr>
        <p:txBody>
          <a:bodyPr wrap="square">
            <a:spAutoFit/>
          </a:bodyPr>
          <a:lstStyle/>
          <a:p>
            <a:pPr algn="l">
              <a:defRPr sz="1300" b="1">
                <a:solidFill>
                  <a:srgbClr val="38BDF8"/>
                </a:solidFill>
                <a:latin typeface="Calibri"/>
              </a:defRPr>
            </a:pPr>
            <a:r>
              <a:t>🏠  Home.jsx</a:t>
            </a:r>
          </a:p>
        </p:txBody>
      </p:sp>
      <p:sp>
        <p:nvSpPr>
          <p:cNvPr id="6" name="Rounded Rectangle 5"/>
          <p:cNvSpPr/>
          <p:nvPr/>
        </p:nvSpPr>
        <p:spPr>
          <a:xfrm>
            <a:off x="769467" y="2103120"/>
            <a:ext cx="822960" cy="228600"/>
          </a:xfrm>
          <a:prstGeom prst="round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9467" y="2103120"/>
            <a:ext cx="822960" cy="228600"/>
          </a:xfrm>
          <a:prstGeom prst="rect">
            <a:avLst/>
          </a:prstGeom>
          <a:noFill/>
        </p:spPr>
        <p:txBody>
          <a:bodyPr wrap="square">
            <a:spAutoFit/>
          </a:bodyPr>
          <a:lstStyle/>
          <a:p>
            <a:pPr algn="ctr">
              <a:defRPr sz="900" b="1">
                <a:solidFill>
                  <a:srgbClr val="FFFFFF"/>
                </a:solidFill>
                <a:latin typeface="Calibri"/>
              </a:defRPr>
            </a:pPr>
            <a:r>
              <a:t>Page</a:t>
            </a:r>
          </a:p>
        </p:txBody>
      </p:sp>
      <p:sp>
        <p:nvSpPr>
          <p:cNvPr id="8" name="TextBox 7"/>
          <p:cNvSpPr txBox="1"/>
          <p:nvPr/>
        </p:nvSpPr>
        <p:spPr>
          <a:xfrm>
            <a:off x="769467" y="2468880"/>
            <a:ext cx="2286000" cy="1188720"/>
          </a:xfrm>
          <a:prstGeom prst="rect">
            <a:avLst/>
          </a:prstGeom>
          <a:noFill/>
        </p:spPr>
        <p:txBody>
          <a:bodyPr wrap="square">
            <a:spAutoFit/>
          </a:bodyPr>
          <a:lstStyle/>
          <a:p>
            <a:pPr algn="l">
              <a:defRPr sz="1100" b="0">
                <a:solidFill>
                  <a:srgbClr val="94A3B8"/>
                </a:solidFill>
                <a:latin typeface="Calibri"/>
              </a:defRPr>
            </a:pPr>
            <a:r>
              <a:t>Landing page with search bar, featured movies, and navigation to all sections.</a:t>
            </a:r>
          </a:p>
        </p:txBody>
      </p:sp>
      <p:sp>
        <p:nvSpPr>
          <p:cNvPr id="9" name="Rounded Rectangle 8"/>
          <p:cNvSpPr/>
          <p:nvPr/>
        </p:nvSpPr>
        <p:spPr>
          <a:xfrm>
            <a:off x="3421227" y="1554480"/>
            <a:ext cx="2560320" cy="2286000"/>
          </a:xfrm>
          <a:prstGeom prst="roundRect">
            <a:avLst/>
          </a:prstGeom>
          <a:solidFill>
            <a:srgbClr val="1A253C"/>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58387" y="1691640"/>
            <a:ext cx="2286000" cy="365760"/>
          </a:xfrm>
          <a:prstGeom prst="rect">
            <a:avLst/>
          </a:prstGeom>
          <a:noFill/>
        </p:spPr>
        <p:txBody>
          <a:bodyPr wrap="square">
            <a:spAutoFit/>
          </a:bodyPr>
          <a:lstStyle/>
          <a:p>
            <a:pPr algn="l">
              <a:defRPr sz="1300" b="1">
                <a:solidFill>
                  <a:srgbClr val="A78BFA"/>
                </a:solidFill>
                <a:latin typeface="Calibri"/>
              </a:defRPr>
            </a:pPr>
            <a:r>
              <a:t>🎯  Recommendations.jsx</a:t>
            </a:r>
          </a:p>
        </p:txBody>
      </p:sp>
      <p:sp>
        <p:nvSpPr>
          <p:cNvPr id="11" name="Rounded Rectangle 10"/>
          <p:cNvSpPr/>
          <p:nvPr/>
        </p:nvSpPr>
        <p:spPr>
          <a:xfrm>
            <a:off x="3558387" y="2103120"/>
            <a:ext cx="822960" cy="228600"/>
          </a:xfrm>
          <a:prstGeom prst="round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58387" y="2103120"/>
            <a:ext cx="822960" cy="228600"/>
          </a:xfrm>
          <a:prstGeom prst="rect">
            <a:avLst/>
          </a:prstGeom>
          <a:noFill/>
        </p:spPr>
        <p:txBody>
          <a:bodyPr wrap="square">
            <a:spAutoFit/>
          </a:bodyPr>
          <a:lstStyle/>
          <a:p>
            <a:pPr algn="ctr">
              <a:defRPr sz="900" b="1">
                <a:solidFill>
                  <a:srgbClr val="FFFFFF"/>
                </a:solidFill>
                <a:latin typeface="Calibri"/>
              </a:defRPr>
            </a:pPr>
            <a:r>
              <a:t>Page</a:t>
            </a:r>
          </a:p>
        </p:txBody>
      </p:sp>
      <p:sp>
        <p:nvSpPr>
          <p:cNvPr id="13" name="TextBox 12"/>
          <p:cNvSpPr txBox="1"/>
          <p:nvPr/>
        </p:nvSpPr>
        <p:spPr>
          <a:xfrm>
            <a:off x="3558387" y="2468880"/>
            <a:ext cx="2286000" cy="1188720"/>
          </a:xfrm>
          <a:prstGeom prst="rect">
            <a:avLst/>
          </a:prstGeom>
          <a:noFill/>
        </p:spPr>
        <p:txBody>
          <a:bodyPr wrap="square">
            <a:spAutoFit/>
          </a:bodyPr>
          <a:lstStyle/>
          <a:p>
            <a:pPr algn="l">
              <a:defRPr sz="1100" b="0">
                <a:solidFill>
                  <a:srgbClr val="94A3B8"/>
                </a:solidFill>
                <a:latin typeface="Calibri"/>
              </a:defRPr>
            </a:pPr>
            <a:r>
              <a:t>Displays top-10 recommended movies for a selected title with similarity scores &amp; explanations.</a:t>
            </a:r>
          </a:p>
        </p:txBody>
      </p:sp>
      <p:sp>
        <p:nvSpPr>
          <p:cNvPr id="14" name="Rounded Rectangle 13"/>
          <p:cNvSpPr/>
          <p:nvPr/>
        </p:nvSpPr>
        <p:spPr>
          <a:xfrm>
            <a:off x="6210147" y="1554480"/>
            <a:ext cx="2560320" cy="2286000"/>
          </a:xfrm>
          <a:prstGeom prst="roundRect">
            <a:avLst/>
          </a:prstGeom>
          <a:solidFill>
            <a:srgbClr val="1A253C"/>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47307" y="1691640"/>
            <a:ext cx="2286000" cy="365760"/>
          </a:xfrm>
          <a:prstGeom prst="rect">
            <a:avLst/>
          </a:prstGeom>
          <a:noFill/>
        </p:spPr>
        <p:txBody>
          <a:bodyPr wrap="square">
            <a:spAutoFit/>
          </a:bodyPr>
          <a:lstStyle/>
          <a:p>
            <a:pPr algn="l">
              <a:defRPr sz="1300" b="1">
                <a:solidFill>
                  <a:srgbClr val="34D399"/>
                </a:solidFill>
                <a:latin typeface="Calibri"/>
              </a:defRPr>
            </a:pPr>
            <a:r>
              <a:t>💡  PersonalizedPage.jsx</a:t>
            </a:r>
          </a:p>
        </p:txBody>
      </p:sp>
      <p:sp>
        <p:nvSpPr>
          <p:cNvPr id="16" name="Rounded Rectangle 15"/>
          <p:cNvSpPr/>
          <p:nvPr/>
        </p:nvSpPr>
        <p:spPr>
          <a:xfrm>
            <a:off x="6347307" y="2103120"/>
            <a:ext cx="822960" cy="228600"/>
          </a:xfrm>
          <a:prstGeom prst="round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47307" y="2103120"/>
            <a:ext cx="822960" cy="228600"/>
          </a:xfrm>
          <a:prstGeom prst="rect">
            <a:avLst/>
          </a:prstGeom>
          <a:noFill/>
        </p:spPr>
        <p:txBody>
          <a:bodyPr wrap="square">
            <a:spAutoFit/>
          </a:bodyPr>
          <a:lstStyle/>
          <a:p>
            <a:pPr algn="ctr">
              <a:defRPr sz="900" b="1">
                <a:solidFill>
                  <a:srgbClr val="FFFFFF"/>
                </a:solidFill>
                <a:latin typeface="Calibri"/>
              </a:defRPr>
            </a:pPr>
            <a:r>
              <a:t>Page</a:t>
            </a:r>
          </a:p>
        </p:txBody>
      </p:sp>
      <p:sp>
        <p:nvSpPr>
          <p:cNvPr id="18" name="TextBox 17"/>
          <p:cNvSpPr txBox="1"/>
          <p:nvPr/>
        </p:nvSpPr>
        <p:spPr>
          <a:xfrm>
            <a:off x="6347307" y="2468880"/>
            <a:ext cx="2286000" cy="1188720"/>
          </a:xfrm>
          <a:prstGeom prst="rect">
            <a:avLst/>
          </a:prstGeom>
          <a:noFill/>
        </p:spPr>
        <p:txBody>
          <a:bodyPr wrap="square">
            <a:spAutoFit/>
          </a:bodyPr>
          <a:lstStyle/>
          <a:p>
            <a:pPr algn="l">
              <a:defRPr sz="1100" b="0">
                <a:solidFill>
                  <a:srgbClr val="94A3B8"/>
                </a:solidFill>
                <a:latin typeface="Calibri"/>
              </a:defRPr>
            </a:pPr>
            <a:r>
              <a:t>Multi-movie input for personalized recommendations. Users select multiple liked movies.</a:t>
            </a:r>
          </a:p>
        </p:txBody>
      </p:sp>
      <p:sp>
        <p:nvSpPr>
          <p:cNvPr id="19" name="Rounded Rectangle 18"/>
          <p:cNvSpPr/>
          <p:nvPr/>
        </p:nvSpPr>
        <p:spPr>
          <a:xfrm>
            <a:off x="8999067" y="1554480"/>
            <a:ext cx="2560320" cy="2286000"/>
          </a:xfrm>
          <a:prstGeom prst="roundRect">
            <a:avLst/>
          </a:prstGeom>
          <a:solidFill>
            <a:srgbClr val="1A253C"/>
          </a:solidFill>
          <a:ln w="12700">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36227" y="1691640"/>
            <a:ext cx="2286000" cy="365760"/>
          </a:xfrm>
          <a:prstGeom prst="rect">
            <a:avLst/>
          </a:prstGeom>
          <a:noFill/>
        </p:spPr>
        <p:txBody>
          <a:bodyPr wrap="square">
            <a:spAutoFit/>
          </a:bodyPr>
          <a:lstStyle/>
          <a:p>
            <a:pPr algn="l">
              <a:defRPr sz="1300" b="1">
                <a:solidFill>
                  <a:srgbClr val="FBBF24"/>
                </a:solidFill>
                <a:latin typeface="Calibri"/>
              </a:defRPr>
            </a:pPr>
            <a:r>
              <a:t>🔥  Popular.jsx</a:t>
            </a:r>
          </a:p>
        </p:txBody>
      </p:sp>
      <p:sp>
        <p:nvSpPr>
          <p:cNvPr id="21" name="Rounded Rectangle 20"/>
          <p:cNvSpPr/>
          <p:nvPr/>
        </p:nvSpPr>
        <p:spPr>
          <a:xfrm>
            <a:off x="9136227" y="2103120"/>
            <a:ext cx="822960" cy="228600"/>
          </a:xfrm>
          <a:prstGeom prst="round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36227" y="2103120"/>
            <a:ext cx="822960" cy="228600"/>
          </a:xfrm>
          <a:prstGeom prst="rect">
            <a:avLst/>
          </a:prstGeom>
          <a:noFill/>
        </p:spPr>
        <p:txBody>
          <a:bodyPr wrap="square">
            <a:spAutoFit/>
          </a:bodyPr>
          <a:lstStyle/>
          <a:p>
            <a:pPr algn="ctr">
              <a:defRPr sz="900" b="1">
                <a:solidFill>
                  <a:srgbClr val="FFFFFF"/>
                </a:solidFill>
                <a:latin typeface="Calibri"/>
              </a:defRPr>
            </a:pPr>
            <a:r>
              <a:t>Page</a:t>
            </a:r>
          </a:p>
        </p:txBody>
      </p:sp>
      <p:sp>
        <p:nvSpPr>
          <p:cNvPr id="23" name="TextBox 22"/>
          <p:cNvSpPr txBox="1"/>
          <p:nvPr/>
        </p:nvSpPr>
        <p:spPr>
          <a:xfrm>
            <a:off x="9136227" y="2468880"/>
            <a:ext cx="2286000" cy="1188720"/>
          </a:xfrm>
          <a:prstGeom prst="rect">
            <a:avLst/>
          </a:prstGeom>
          <a:noFill/>
        </p:spPr>
        <p:txBody>
          <a:bodyPr wrap="square">
            <a:spAutoFit/>
          </a:bodyPr>
          <a:lstStyle/>
          <a:p>
            <a:pPr algn="l">
              <a:defRPr sz="1100" b="0">
                <a:solidFill>
                  <a:srgbClr val="94A3B8"/>
                </a:solidFill>
                <a:latin typeface="Calibri"/>
              </a:defRPr>
            </a:pPr>
            <a:r>
              <a:t>Top-20 highest-rated movies with minimum 50 ratings. Shows average scores and genres.</a:t>
            </a:r>
          </a:p>
        </p:txBody>
      </p:sp>
      <p:sp>
        <p:nvSpPr>
          <p:cNvPr id="24" name="Rounded Rectangle 23"/>
          <p:cNvSpPr/>
          <p:nvPr/>
        </p:nvSpPr>
        <p:spPr>
          <a:xfrm>
            <a:off x="632307" y="4069080"/>
            <a:ext cx="2560320" cy="2286000"/>
          </a:xfrm>
          <a:prstGeom prst="roundRect">
            <a:avLst/>
          </a:prstGeom>
          <a:solidFill>
            <a:srgbClr val="1A253C"/>
          </a:solidFill>
          <a:ln w="12700">
            <a:solidFill>
              <a:srgbClr val="FB71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9467" y="4206240"/>
            <a:ext cx="2286000" cy="365760"/>
          </a:xfrm>
          <a:prstGeom prst="rect">
            <a:avLst/>
          </a:prstGeom>
          <a:noFill/>
        </p:spPr>
        <p:txBody>
          <a:bodyPr wrap="square">
            <a:spAutoFit/>
          </a:bodyPr>
          <a:lstStyle/>
          <a:p>
            <a:pPr algn="l">
              <a:defRPr sz="1300" b="1">
                <a:solidFill>
                  <a:srgbClr val="FB7185"/>
                </a:solidFill>
                <a:latin typeface="Calibri"/>
              </a:defRPr>
            </a:pPr>
            <a:r>
              <a:t>🎬  MovieCard.jsx</a:t>
            </a:r>
          </a:p>
        </p:txBody>
      </p:sp>
      <p:sp>
        <p:nvSpPr>
          <p:cNvPr id="26" name="Rounded Rectangle 25"/>
          <p:cNvSpPr/>
          <p:nvPr/>
        </p:nvSpPr>
        <p:spPr>
          <a:xfrm>
            <a:off x="769467" y="4617720"/>
            <a:ext cx="822960" cy="228600"/>
          </a:xfrm>
          <a:prstGeom prst="roundRect">
            <a:avLst/>
          </a:prstGeom>
          <a:solidFill>
            <a:srgbClr val="FB71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9467" y="4617720"/>
            <a:ext cx="822960" cy="228600"/>
          </a:xfrm>
          <a:prstGeom prst="rect">
            <a:avLst/>
          </a:prstGeom>
          <a:noFill/>
        </p:spPr>
        <p:txBody>
          <a:bodyPr wrap="square">
            <a:spAutoFit/>
          </a:bodyPr>
          <a:lstStyle/>
          <a:p>
            <a:pPr algn="ctr">
              <a:defRPr sz="900" b="1">
                <a:solidFill>
                  <a:srgbClr val="FFFFFF"/>
                </a:solidFill>
                <a:latin typeface="Calibri"/>
              </a:defRPr>
            </a:pPr>
            <a:r>
              <a:t>Component</a:t>
            </a:r>
          </a:p>
        </p:txBody>
      </p:sp>
      <p:sp>
        <p:nvSpPr>
          <p:cNvPr id="28" name="TextBox 27"/>
          <p:cNvSpPr txBox="1"/>
          <p:nvPr/>
        </p:nvSpPr>
        <p:spPr>
          <a:xfrm>
            <a:off x="769467" y="4983480"/>
            <a:ext cx="2286000" cy="1188720"/>
          </a:xfrm>
          <a:prstGeom prst="rect">
            <a:avLst/>
          </a:prstGeom>
          <a:noFill/>
        </p:spPr>
        <p:txBody>
          <a:bodyPr wrap="square">
            <a:spAutoFit/>
          </a:bodyPr>
          <a:lstStyle/>
          <a:p>
            <a:pPr algn="l">
              <a:defRPr sz="1100" b="0">
                <a:solidFill>
                  <a:srgbClr val="94A3B8"/>
                </a:solidFill>
                <a:latin typeface="Calibri"/>
              </a:defRPr>
            </a:pPr>
            <a:r>
              <a:t>Reusable card with poster (Wikipedia API), title, genre tags, score badge &amp; explanations.</a:t>
            </a:r>
          </a:p>
        </p:txBody>
      </p:sp>
      <p:sp>
        <p:nvSpPr>
          <p:cNvPr id="29" name="Rounded Rectangle 28"/>
          <p:cNvSpPr/>
          <p:nvPr/>
        </p:nvSpPr>
        <p:spPr>
          <a:xfrm>
            <a:off x="3421227" y="4069080"/>
            <a:ext cx="2560320" cy="2286000"/>
          </a:xfrm>
          <a:prstGeom prst="roundRect">
            <a:avLst/>
          </a:prstGeom>
          <a:solidFill>
            <a:srgbClr val="1A253C"/>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558387" y="4206240"/>
            <a:ext cx="2286000" cy="365760"/>
          </a:xfrm>
          <a:prstGeom prst="rect">
            <a:avLst/>
          </a:prstGeom>
          <a:noFill/>
        </p:spPr>
        <p:txBody>
          <a:bodyPr wrap="square">
            <a:spAutoFit/>
          </a:bodyPr>
          <a:lstStyle/>
          <a:p>
            <a:pPr algn="l">
              <a:defRPr sz="1300" b="1">
                <a:solidFill>
                  <a:srgbClr val="38BDF8"/>
                </a:solidFill>
                <a:latin typeface="Calibri"/>
              </a:defRPr>
            </a:pPr>
            <a:r>
              <a:t>🕸️  MovieGraph.jsx</a:t>
            </a:r>
          </a:p>
        </p:txBody>
      </p:sp>
      <p:sp>
        <p:nvSpPr>
          <p:cNvPr id="31" name="Rounded Rectangle 30"/>
          <p:cNvSpPr/>
          <p:nvPr/>
        </p:nvSpPr>
        <p:spPr>
          <a:xfrm>
            <a:off x="3558387" y="4617720"/>
            <a:ext cx="822960" cy="228600"/>
          </a:xfrm>
          <a:prstGeom prst="round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558387" y="4617720"/>
            <a:ext cx="822960" cy="228600"/>
          </a:xfrm>
          <a:prstGeom prst="rect">
            <a:avLst/>
          </a:prstGeom>
          <a:noFill/>
        </p:spPr>
        <p:txBody>
          <a:bodyPr wrap="square">
            <a:spAutoFit/>
          </a:bodyPr>
          <a:lstStyle/>
          <a:p>
            <a:pPr algn="ctr">
              <a:defRPr sz="900" b="1">
                <a:solidFill>
                  <a:srgbClr val="FFFFFF"/>
                </a:solidFill>
                <a:latin typeface="Calibri"/>
              </a:defRPr>
            </a:pPr>
            <a:r>
              <a:t>Component</a:t>
            </a:r>
          </a:p>
        </p:txBody>
      </p:sp>
      <p:sp>
        <p:nvSpPr>
          <p:cNvPr id="33" name="TextBox 32"/>
          <p:cNvSpPr txBox="1"/>
          <p:nvPr/>
        </p:nvSpPr>
        <p:spPr>
          <a:xfrm>
            <a:off x="3558387" y="4983480"/>
            <a:ext cx="2286000" cy="1188720"/>
          </a:xfrm>
          <a:prstGeom prst="rect">
            <a:avLst/>
          </a:prstGeom>
          <a:noFill/>
        </p:spPr>
        <p:txBody>
          <a:bodyPr wrap="square">
            <a:spAutoFit/>
          </a:bodyPr>
          <a:lstStyle/>
          <a:p>
            <a:pPr algn="l">
              <a:defRPr sz="1100" b="0">
                <a:solidFill>
                  <a:srgbClr val="94A3B8"/>
                </a:solidFill>
                <a:latin typeface="Calibri"/>
              </a:defRPr>
            </a:pPr>
            <a:r>
              <a:t>Interactive D3 force-directed graph showing movie similarity network with weighted edges.</a:t>
            </a:r>
          </a:p>
        </p:txBody>
      </p:sp>
      <p:sp>
        <p:nvSpPr>
          <p:cNvPr id="34" name="Rounded Rectangle 33"/>
          <p:cNvSpPr/>
          <p:nvPr/>
        </p:nvSpPr>
        <p:spPr>
          <a:xfrm>
            <a:off x="6210147" y="4069080"/>
            <a:ext cx="2560320" cy="2286000"/>
          </a:xfrm>
          <a:prstGeom prst="roundRect">
            <a:avLst/>
          </a:prstGeom>
          <a:solidFill>
            <a:srgbClr val="1A253C"/>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47307" y="4206240"/>
            <a:ext cx="2286000" cy="365760"/>
          </a:xfrm>
          <a:prstGeom prst="rect">
            <a:avLst/>
          </a:prstGeom>
          <a:noFill/>
        </p:spPr>
        <p:txBody>
          <a:bodyPr wrap="square">
            <a:spAutoFit/>
          </a:bodyPr>
          <a:lstStyle/>
          <a:p>
            <a:pPr algn="l">
              <a:defRPr sz="1300" b="1">
                <a:solidFill>
                  <a:srgbClr val="A78BFA"/>
                </a:solidFill>
                <a:latin typeface="Calibri"/>
              </a:defRPr>
            </a:pPr>
            <a:r>
              <a:t>🔍  SearchBar.jsx</a:t>
            </a:r>
          </a:p>
        </p:txBody>
      </p:sp>
      <p:sp>
        <p:nvSpPr>
          <p:cNvPr id="36" name="Rounded Rectangle 35"/>
          <p:cNvSpPr/>
          <p:nvPr/>
        </p:nvSpPr>
        <p:spPr>
          <a:xfrm>
            <a:off x="6347307" y="4617720"/>
            <a:ext cx="822960" cy="228600"/>
          </a:xfrm>
          <a:prstGeom prst="round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47307" y="4617720"/>
            <a:ext cx="822960" cy="228600"/>
          </a:xfrm>
          <a:prstGeom prst="rect">
            <a:avLst/>
          </a:prstGeom>
          <a:noFill/>
        </p:spPr>
        <p:txBody>
          <a:bodyPr wrap="square">
            <a:spAutoFit/>
          </a:bodyPr>
          <a:lstStyle/>
          <a:p>
            <a:pPr algn="ctr">
              <a:defRPr sz="900" b="1">
                <a:solidFill>
                  <a:srgbClr val="FFFFFF"/>
                </a:solidFill>
                <a:latin typeface="Calibri"/>
              </a:defRPr>
            </a:pPr>
            <a:r>
              <a:t>Component</a:t>
            </a:r>
          </a:p>
        </p:txBody>
      </p:sp>
      <p:sp>
        <p:nvSpPr>
          <p:cNvPr id="38" name="TextBox 37"/>
          <p:cNvSpPr txBox="1"/>
          <p:nvPr/>
        </p:nvSpPr>
        <p:spPr>
          <a:xfrm>
            <a:off x="6347307" y="4983480"/>
            <a:ext cx="2286000" cy="1188720"/>
          </a:xfrm>
          <a:prstGeom prst="rect">
            <a:avLst/>
          </a:prstGeom>
          <a:noFill/>
        </p:spPr>
        <p:txBody>
          <a:bodyPr wrap="square">
            <a:spAutoFit/>
          </a:bodyPr>
          <a:lstStyle/>
          <a:p>
            <a:pPr algn="l">
              <a:defRPr sz="1100" b="0">
                <a:solidFill>
                  <a:srgbClr val="94A3B8"/>
                </a:solidFill>
                <a:latin typeface="Calibri"/>
              </a:defRPr>
            </a:pPr>
            <a:r>
              <a:t>Auto-completing search with debounced API calls. Filters movies as the user types.</a:t>
            </a:r>
          </a:p>
        </p:txBody>
      </p:sp>
      <p:sp>
        <p:nvSpPr>
          <p:cNvPr id="39" name="Rounded Rectangle 38"/>
          <p:cNvSpPr/>
          <p:nvPr/>
        </p:nvSpPr>
        <p:spPr>
          <a:xfrm>
            <a:off x="8999067" y="4069080"/>
            <a:ext cx="2560320" cy="2286000"/>
          </a:xfrm>
          <a:prstGeom prst="roundRect">
            <a:avLst/>
          </a:prstGeom>
          <a:solidFill>
            <a:srgbClr val="1A253C"/>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36227" y="4206240"/>
            <a:ext cx="2286000" cy="365760"/>
          </a:xfrm>
          <a:prstGeom prst="rect">
            <a:avLst/>
          </a:prstGeom>
          <a:noFill/>
        </p:spPr>
        <p:txBody>
          <a:bodyPr wrap="square">
            <a:spAutoFit/>
          </a:bodyPr>
          <a:lstStyle/>
          <a:p>
            <a:pPr algn="l">
              <a:defRPr sz="1300" b="1">
                <a:solidFill>
                  <a:srgbClr val="34D399"/>
                </a:solidFill>
                <a:latin typeface="Calibri"/>
              </a:defRPr>
            </a:pPr>
            <a:r>
              <a:t>📌  Navbar.jsx</a:t>
            </a:r>
          </a:p>
        </p:txBody>
      </p:sp>
      <p:sp>
        <p:nvSpPr>
          <p:cNvPr id="41" name="Rounded Rectangle 40"/>
          <p:cNvSpPr/>
          <p:nvPr/>
        </p:nvSpPr>
        <p:spPr>
          <a:xfrm>
            <a:off x="9136227" y="4617720"/>
            <a:ext cx="822960" cy="228600"/>
          </a:xfrm>
          <a:prstGeom prst="round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36227" y="4617720"/>
            <a:ext cx="822960" cy="228600"/>
          </a:xfrm>
          <a:prstGeom prst="rect">
            <a:avLst/>
          </a:prstGeom>
          <a:noFill/>
        </p:spPr>
        <p:txBody>
          <a:bodyPr wrap="square">
            <a:spAutoFit/>
          </a:bodyPr>
          <a:lstStyle/>
          <a:p>
            <a:pPr algn="ctr">
              <a:defRPr sz="900" b="1">
                <a:solidFill>
                  <a:srgbClr val="FFFFFF"/>
                </a:solidFill>
                <a:latin typeface="Calibri"/>
              </a:defRPr>
            </a:pPr>
            <a:r>
              <a:t>Component</a:t>
            </a:r>
          </a:p>
        </p:txBody>
      </p:sp>
      <p:sp>
        <p:nvSpPr>
          <p:cNvPr id="43" name="TextBox 42"/>
          <p:cNvSpPr txBox="1"/>
          <p:nvPr/>
        </p:nvSpPr>
        <p:spPr>
          <a:xfrm>
            <a:off x="9136227" y="4983480"/>
            <a:ext cx="2286000" cy="1188720"/>
          </a:xfrm>
          <a:prstGeom prst="rect">
            <a:avLst/>
          </a:prstGeom>
          <a:noFill/>
        </p:spPr>
        <p:txBody>
          <a:bodyPr wrap="square">
            <a:spAutoFit/>
          </a:bodyPr>
          <a:lstStyle/>
          <a:p>
            <a:pPr algn="l">
              <a:defRPr sz="1100" b="0">
                <a:solidFill>
                  <a:srgbClr val="94A3B8"/>
                </a:solidFill>
                <a:latin typeface="Calibri"/>
              </a:defRPr>
            </a:pPr>
            <a:r>
              <a:t>Responsive navigation bar with links to Home, Popular, and Personalized pages.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7315200" cy="640080"/>
          </a:xfrm>
          <a:prstGeom prst="rect">
            <a:avLst/>
          </a:prstGeom>
          <a:noFill/>
        </p:spPr>
        <p:txBody>
          <a:bodyPr wrap="square">
            <a:spAutoFit/>
          </a:bodyPr>
          <a:lstStyle/>
          <a:p>
            <a:pPr algn="l">
              <a:defRPr sz="3600" b="1">
                <a:solidFill>
                  <a:srgbClr val="FFFFFF"/>
                </a:solidFill>
                <a:latin typeface="Calibri"/>
              </a:defRPr>
            </a:pPr>
            <a:r>
              <a:t>06  API Endpoints</a:t>
            </a:r>
          </a:p>
        </p:txBody>
      </p:sp>
      <p:sp>
        <p:nvSpPr>
          <p:cNvPr id="3" name="Rectangle 2"/>
          <p:cNvSpPr/>
          <p:nvPr/>
        </p:nvSpPr>
        <p:spPr>
          <a:xfrm>
            <a:off x="731520" y="1097280"/>
            <a:ext cx="2286000" cy="381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10698480" cy="457200"/>
          </a:xfrm>
          <a:prstGeom prst="round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08760"/>
            <a:ext cx="914400" cy="365760"/>
          </a:xfrm>
          <a:prstGeom prst="rect">
            <a:avLst/>
          </a:prstGeom>
          <a:noFill/>
        </p:spPr>
        <p:txBody>
          <a:bodyPr wrap="square">
            <a:spAutoFit/>
          </a:bodyPr>
          <a:lstStyle/>
          <a:p>
            <a:pPr algn="l">
              <a:defRPr sz="1300" b="1">
                <a:solidFill>
                  <a:srgbClr val="FFFFFF"/>
                </a:solidFill>
                <a:latin typeface="Calibri"/>
              </a:defRPr>
            </a:pPr>
            <a:r>
              <a:t>Method</a:t>
            </a:r>
          </a:p>
        </p:txBody>
      </p:sp>
      <p:sp>
        <p:nvSpPr>
          <p:cNvPr id="6" name="TextBox 5"/>
          <p:cNvSpPr txBox="1"/>
          <p:nvPr/>
        </p:nvSpPr>
        <p:spPr>
          <a:xfrm>
            <a:off x="1645920" y="1508760"/>
            <a:ext cx="2468880" cy="365760"/>
          </a:xfrm>
          <a:prstGeom prst="rect">
            <a:avLst/>
          </a:prstGeom>
          <a:noFill/>
        </p:spPr>
        <p:txBody>
          <a:bodyPr wrap="square">
            <a:spAutoFit/>
          </a:bodyPr>
          <a:lstStyle/>
          <a:p>
            <a:pPr algn="l">
              <a:defRPr sz="1300" b="1">
                <a:solidFill>
                  <a:srgbClr val="FFFFFF"/>
                </a:solidFill>
                <a:latin typeface="Calibri"/>
              </a:defRPr>
            </a:pPr>
            <a:r>
              <a:t>Endpoint</a:t>
            </a:r>
          </a:p>
        </p:txBody>
      </p:sp>
      <p:sp>
        <p:nvSpPr>
          <p:cNvPr id="7" name="TextBox 6"/>
          <p:cNvSpPr txBox="1"/>
          <p:nvPr/>
        </p:nvSpPr>
        <p:spPr>
          <a:xfrm>
            <a:off x="4114800" y="1508760"/>
            <a:ext cx="2286000" cy="365760"/>
          </a:xfrm>
          <a:prstGeom prst="rect">
            <a:avLst/>
          </a:prstGeom>
          <a:noFill/>
        </p:spPr>
        <p:txBody>
          <a:bodyPr wrap="square">
            <a:spAutoFit/>
          </a:bodyPr>
          <a:lstStyle/>
          <a:p>
            <a:pPr algn="l">
              <a:defRPr sz="1300" b="1">
                <a:solidFill>
                  <a:srgbClr val="FFFFFF"/>
                </a:solidFill>
                <a:latin typeface="Calibri"/>
              </a:defRPr>
            </a:pPr>
            <a:r>
              <a:t>Purpose</a:t>
            </a:r>
          </a:p>
        </p:txBody>
      </p:sp>
      <p:sp>
        <p:nvSpPr>
          <p:cNvPr id="8" name="TextBox 7"/>
          <p:cNvSpPr txBox="1"/>
          <p:nvPr/>
        </p:nvSpPr>
        <p:spPr>
          <a:xfrm>
            <a:off x="6400800" y="1508760"/>
            <a:ext cx="5029200" cy="365760"/>
          </a:xfrm>
          <a:prstGeom prst="rect">
            <a:avLst/>
          </a:prstGeom>
          <a:noFill/>
        </p:spPr>
        <p:txBody>
          <a:bodyPr wrap="square">
            <a:spAutoFit/>
          </a:bodyPr>
          <a:lstStyle/>
          <a:p>
            <a:pPr algn="l">
              <a:defRPr sz="1300" b="1">
                <a:solidFill>
                  <a:srgbClr val="FFFFFF"/>
                </a:solidFill>
                <a:latin typeface="Calibri"/>
              </a:defRPr>
            </a:pPr>
            <a:r>
              <a:t>Description</a:t>
            </a:r>
          </a:p>
        </p:txBody>
      </p:sp>
      <p:sp>
        <p:nvSpPr>
          <p:cNvPr id="9" name="Rounded Rectangle 8"/>
          <p:cNvSpPr/>
          <p:nvPr/>
        </p:nvSpPr>
        <p:spPr>
          <a:xfrm>
            <a:off x="731520" y="2011680"/>
            <a:ext cx="10698480" cy="59436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22960" y="2121408"/>
            <a:ext cx="640080" cy="320040"/>
          </a:xfrm>
          <a:prstGeom prst="round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121408"/>
            <a:ext cx="640080" cy="320040"/>
          </a:xfrm>
          <a:prstGeom prst="rect">
            <a:avLst/>
          </a:prstGeom>
          <a:noFill/>
        </p:spPr>
        <p:txBody>
          <a:bodyPr wrap="square">
            <a:spAutoFit/>
          </a:bodyPr>
          <a:lstStyle/>
          <a:p>
            <a:pPr algn="ctr">
              <a:defRPr sz="1000" b="1">
                <a:solidFill>
                  <a:srgbClr val="FFFFFF"/>
                </a:solidFill>
                <a:latin typeface="Calibri"/>
              </a:defRPr>
            </a:pPr>
            <a:r>
              <a:t>GET</a:t>
            </a:r>
          </a:p>
        </p:txBody>
      </p:sp>
      <p:sp>
        <p:nvSpPr>
          <p:cNvPr id="12" name="TextBox 11"/>
          <p:cNvSpPr txBox="1"/>
          <p:nvPr/>
        </p:nvSpPr>
        <p:spPr>
          <a:xfrm>
            <a:off x="1645920" y="2103120"/>
            <a:ext cx="2468880" cy="411480"/>
          </a:xfrm>
          <a:prstGeom prst="rect">
            <a:avLst/>
          </a:prstGeom>
          <a:noFill/>
        </p:spPr>
        <p:txBody>
          <a:bodyPr wrap="square">
            <a:spAutoFit/>
          </a:bodyPr>
          <a:lstStyle/>
          <a:p>
            <a:pPr algn="l">
              <a:defRPr sz="1100" b="1">
                <a:solidFill>
                  <a:srgbClr val="38BDF8"/>
                </a:solidFill>
                <a:latin typeface="Calibri"/>
              </a:defRPr>
            </a:pPr>
            <a:r>
              <a:t>/movies?q=...</a:t>
            </a:r>
          </a:p>
        </p:txBody>
      </p:sp>
      <p:sp>
        <p:nvSpPr>
          <p:cNvPr id="13" name="TextBox 12"/>
          <p:cNvSpPr txBox="1"/>
          <p:nvPr/>
        </p:nvSpPr>
        <p:spPr>
          <a:xfrm>
            <a:off x="4114800" y="2103120"/>
            <a:ext cx="2286000" cy="411480"/>
          </a:xfrm>
          <a:prstGeom prst="rect">
            <a:avLst/>
          </a:prstGeom>
          <a:noFill/>
        </p:spPr>
        <p:txBody>
          <a:bodyPr wrap="square">
            <a:spAutoFit/>
          </a:bodyPr>
          <a:lstStyle/>
          <a:p>
            <a:pPr algn="l">
              <a:defRPr sz="1200" b="0">
                <a:solidFill>
                  <a:srgbClr val="FFFFFF"/>
                </a:solidFill>
                <a:latin typeface="Calibri"/>
              </a:defRPr>
            </a:pPr>
            <a:r>
              <a:t>Search &amp; list movies</a:t>
            </a:r>
          </a:p>
        </p:txBody>
      </p:sp>
      <p:sp>
        <p:nvSpPr>
          <p:cNvPr id="14" name="TextBox 13"/>
          <p:cNvSpPr txBox="1"/>
          <p:nvPr/>
        </p:nvSpPr>
        <p:spPr>
          <a:xfrm>
            <a:off x="6400800" y="2103120"/>
            <a:ext cx="4846320" cy="411480"/>
          </a:xfrm>
          <a:prstGeom prst="rect">
            <a:avLst/>
          </a:prstGeom>
          <a:noFill/>
        </p:spPr>
        <p:txBody>
          <a:bodyPr wrap="square">
            <a:spAutoFit/>
          </a:bodyPr>
          <a:lstStyle/>
          <a:p>
            <a:pPr algn="l">
              <a:defRPr sz="1100" b="0">
                <a:solidFill>
                  <a:srgbClr val="94A3B8"/>
                </a:solidFill>
                <a:latin typeface="Calibri"/>
              </a:defRPr>
            </a:pPr>
            <a:r>
              <a:t>Returns up to 50 matching movies with title, genres, and movieId</a:t>
            </a:r>
          </a:p>
        </p:txBody>
      </p:sp>
      <p:sp>
        <p:nvSpPr>
          <p:cNvPr id="15" name="Rounded Rectangle 14"/>
          <p:cNvSpPr/>
          <p:nvPr/>
        </p:nvSpPr>
        <p:spPr>
          <a:xfrm>
            <a:off x="731520" y="2670048"/>
            <a:ext cx="10698480" cy="59436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2960" y="2779776"/>
            <a:ext cx="640080" cy="320040"/>
          </a:xfrm>
          <a:prstGeom prst="round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2779776"/>
            <a:ext cx="640080" cy="320040"/>
          </a:xfrm>
          <a:prstGeom prst="rect">
            <a:avLst/>
          </a:prstGeom>
          <a:noFill/>
        </p:spPr>
        <p:txBody>
          <a:bodyPr wrap="square">
            <a:spAutoFit/>
          </a:bodyPr>
          <a:lstStyle/>
          <a:p>
            <a:pPr algn="ctr">
              <a:defRPr sz="1000" b="1">
                <a:solidFill>
                  <a:srgbClr val="FFFFFF"/>
                </a:solidFill>
                <a:latin typeface="Calibri"/>
              </a:defRPr>
            </a:pPr>
            <a:r>
              <a:t>GET</a:t>
            </a:r>
          </a:p>
        </p:txBody>
      </p:sp>
      <p:sp>
        <p:nvSpPr>
          <p:cNvPr id="18" name="TextBox 17"/>
          <p:cNvSpPr txBox="1"/>
          <p:nvPr/>
        </p:nvSpPr>
        <p:spPr>
          <a:xfrm>
            <a:off x="1645920" y="2761488"/>
            <a:ext cx="2468880" cy="411480"/>
          </a:xfrm>
          <a:prstGeom prst="rect">
            <a:avLst/>
          </a:prstGeom>
          <a:noFill/>
        </p:spPr>
        <p:txBody>
          <a:bodyPr wrap="square">
            <a:spAutoFit/>
          </a:bodyPr>
          <a:lstStyle/>
          <a:p>
            <a:pPr algn="l">
              <a:defRPr sz="1100" b="1">
                <a:solidFill>
                  <a:srgbClr val="38BDF8"/>
                </a:solidFill>
                <a:latin typeface="Calibri"/>
              </a:defRPr>
            </a:pPr>
            <a:r>
              <a:t>/recommend/{title}</a:t>
            </a:r>
          </a:p>
        </p:txBody>
      </p:sp>
      <p:sp>
        <p:nvSpPr>
          <p:cNvPr id="19" name="TextBox 18"/>
          <p:cNvSpPr txBox="1"/>
          <p:nvPr/>
        </p:nvSpPr>
        <p:spPr>
          <a:xfrm>
            <a:off x="4114800" y="2761488"/>
            <a:ext cx="2286000" cy="411480"/>
          </a:xfrm>
          <a:prstGeom prst="rect">
            <a:avLst/>
          </a:prstGeom>
          <a:noFill/>
        </p:spPr>
        <p:txBody>
          <a:bodyPr wrap="square">
            <a:spAutoFit/>
          </a:bodyPr>
          <a:lstStyle/>
          <a:p>
            <a:pPr algn="l">
              <a:defRPr sz="1200" b="0">
                <a:solidFill>
                  <a:srgbClr val="FFFFFF"/>
                </a:solidFill>
                <a:latin typeface="Calibri"/>
              </a:defRPr>
            </a:pPr>
            <a:r>
              <a:t>Get recommendations</a:t>
            </a:r>
          </a:p>
        </p:txBody>
      </p:sp>
      <p:sp>
        <p:nvSpPr>
          <p:cNvPr id="20" name="TextBox 19"/>
          <p:cNvSpPr txBox="1"/>
          <p:nvPr/>
        </p:nvSpPr>
        <p:spPr>
          <a:xfrm>
            <a:off x="6400800" y="2761488"/>
            <a:ext cx="4846320" cy="411480"/>
          </a:xfrm>
          <a:prstGeom prst="rect">
            <a:avLst/>
          </a:prstGeom>
          <a:noFill/>
        </p:spPr>
        <p:txBody>
          <a:bodyPr wrap="square">
            <a:spAutoFit/>
          </a:bodyPr>
          <a:lstStyle/>
          <a:p>
            <a:pPr algn="l">
              <a:defRPr sz="1100" b="0">
                <a:solidFill>
                  <a:srgbClr val="94A3B8"/>
                </a:solidFill>
                <a:latin typeface="Calibri"/>
              </a:defRPr>
            </a:pPr>
            <a:r>
              <a:t>Top-10 similar movies with hybrid scores and explanations</a:t>
            </a:r>
          </a:p>
        </p:txBody>
      </p:sp>
      <p:sp>
        <p:nvSpPr>
          <p:cNvPr id="21" name="Rounded Rectangle 20"/>
          <p:cNvSpPr/>
          <p:nvPr/>
        </p:nvSpPr>
        <p:spPr>
          <a:xfrm>
            <a:off x="731520" y="3328416"/>
            <a:ext cx="10698480" cy="59436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22960" y="3438144"/>
            <a:ext cx="640080" cy="320040"/>
          </a:xfrm>
          <a:prstGeom prst="round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3438144"/>
            <a:ext cx="640080" cy="320040"/>
          </a:xfrm>
          <a:prstGeom prst="rect">
            <a:avLst/>
          </a:prstGeom>
          <a:noFill/>
        </p:spPr>
        <p:txBody>
          <a:bodyPr wrap="square">
            <a:spAutoFit/>
          </a:bodyPr>
          <a:lstStyle/>
          <a:p>
            <a:pPr algn="ctr">
              <a:defRPr sz="1000" b="1">
                <a:solidFill>
                  <a:srgbClr val="FFFFFF"/>
                </a:solidFill>
                <a:latin typeface="Calibri"/>
              </a:defRPr>
            </a:pPr>
            <a:r>
              <a:t>GET</a:t>
            </a:r>
          </a:p>
        </p:txBody>
      </p:sp>
      <p:sp>
        <p:nvSpPr>
          <p:cNvPr id="24" name="TextBox 23"/>
          <p:cNvSpPr txBox="1"/>
          <p:nvPr/>
        </p:nvSpPr>
        <p:spPr>
          <a:xfrm>
            <a:off x="1645920" y="3419856"/>
            <a:ext cx="2468880" cy="411480"/>
          </a:xfrm>
          <a:prstGeom prst="rect">
            <a:avLst/>
          </a:prstGeom>
          <a:noFill/>
        </p:spPr>
        <p:txBody>
          <a:bodyPr wrap="square">
            <a:spAutoFit/>
          </a:bodyPr>
          <a:lstStyle/>
          <a:p>
            <a:pPr algn="l">
              <a:defRPr sz="1100" b="1">
                <a:solidFill>
                  <a:srgbClr val="38BDF8"/>
                </a:solidFill>
                <a:latin typeface="Calibri"/>
              </a:defRPr>
            </a:pPr>
            <a:r>
              <a:t>/popular</a:t>
            </a:r>
          </a:p>
        </p:txBody>
      </p:sp>
      <p:sp>
        <p:nvSpPr>
          <p:cNvPr id="25" name="TextBox 24"/>
          <p:cNvSpPr txBox="1"/>
          <p:nvPr/>
        </p:nvSpPr>
        <p:spPr>
          <a:xfrm>
            <a:off x="4114800" y="3419856"/>
            <a:ext cx="2286000" cy="411480"/>
          </a:xfrm>
          <a:prstGeom prst="rect">
            <a:avLst/>
          </a:prstGeom>
          <a:noFill/>
        </p:spPr>
        <p:txBody>
          <a:bodyPr wrap="square">
            <a:spAutoFit/>
          </a:bodyPr>
          <a:lstStyle/>
          <a:p>
            <a:pPr algn="l">
              <a:defRPr sz="1200" b="0">
                <a:solidFill>
                  <a:srgbClr val="FFFFFF"/>
                </a:solidFill>
                <a:latin typeface="Calibri"/>
              </a:defRPr>
            </a:pPr>
            <a:r>
              <a:t>Popular movies</a:t>
            </a:r>
          </a:p>
        </p:txBody>
      </p:sp>
      <p:sp>
        <p:nvSpPr>
          <p:cNvPr id="26" name="TextBox 25"/>
          <p:cNvSpPr txBox="1"/>
          <p:nvPr/>
        </p:nvSpPr>
        <p:spPr>
          <a:xfrm>
            <a:off x="6400800" y="3419856"/>
            <a:ext cx="4846320" cy="411480"/>
          </a:xfrm>
          <a:prstGeom prst="rect">
            <a:avLst/>
          </a:prstGeom>
          <a:noFill/>
        </p:spPr>
        <p:txBody>
          <a:bodyPr wrap="square">
            <a:spAutoFit/>
          </a:bodyPr>
          <a:lstStyle/>
          <a:p>
            <a:pPr algn="l">
              <a:defRPr sz="1100" b="0">
                <a:solidFill>
                  <a:srgbClr val="94A3B8"/>
                </a:solidFill>
                <a:latin typeface="Calibri"/>
              </a:defRPr>
            </a:pPr>
            <a:r>
              <a:t>Top-20 highest-rated movies (min 50 ratings)</a:t>
            </a:r>
          </a:p>
        </p:txBody>
      </p:sp>
      <p:sp>
        <p:nvSpPr>
          <p:cNvPr id="27" name="Rounded Rectangle 26"/>
          <p:cNvSpPr/>
          <p:nvPr/>
        </p:nvSpPr>
        <p:spPr>
          <a:xfrm>
            <a:off x="731520" y="3986784"/>
            <a:ext cx="10698480" cy="59436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22960" y="4096512"/>
            <a:ext cx="640080" cy="320040"/>
          </a:xfrm>
          <a:prstGeom prst="round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4096512"/>
            <a:ext cx="640080" cy="320040"/>
          </a:xfrm>
          <a:prstGeom prst="rect">
            <a:avLst/>
          </a:prstGeom>
          <a:noFill/>
        </p:spPr>
        <p:txBody>
          <a:bodyPr wrap="square">
            <a:spAutoFit/>
          </a:bodyPr>
          <a:lstStyle/>
          <a:p>
            <a:pPr algn="ctr">
              <a:defRPr sz="1000" b="1">
                <a:solidFill>
                  <a:srgbClr val="FFFFFF"/>
                </a:solidFill>
                <a:latin typeface="Calibri"/>
              </a:defRPr>
            </a:pPr>
            <a:r>
              <a:t>POST</a:t>
            </a:r>
          </a:p>
        </p:txBody>
      </p:sp>
      <p:sp>
        <p:nvSpPr>
          <p:cNvPr id="30" name="TextBox 29"/>
          <p:cNvSpPr txBox="1"/>
          <p:nvPr/>
        </p:nvSpPr>
        <p:spPr>
          <a:xfrm>
            <a:off x="1645920" y="4078224"/>
            <a:ext cx="2468880" cy="411480"/>
          </a:xfrm>
          <a:prstGeom prst="rect">
            <a:avLst/>
          </a:prstGeom>
          <a:noFill/>
        </p:spPr>
        <p:txBody>
          <a:bodyPr wrap="square">
            <a:spAutoFit/>
          </a:bodyPr>
          <a:lstStyle/>
          <a:p>
            <a:pPr algn="l">
              <a:defRPr sz="1100" b="1">
                <a:solidFill>
                  <a:srgbClr val="38BDF8"/>
                </a:solidFill>
                <a:latin typeface="Calibri"/>
              </a:defRPr>
            </a:pPr>
            <a:r>
              <a:t>/personalized-recommendations</a:t>
            </a:r>
          </a:p>
        </p:txBody>
      </p:sp>
      <p:sp>
        <p:nvSpPr>
          <p:cNvPr id="31" name="TextBox 30"/>
          <p:cNvSpPr txBox="1"/>
          <p:nvPr/>
        </p:nvSpPr>
        <p:spPr>
          <a:xfrm>
            <a:off x="4114800" y="4078224"/>
            <a:ext cx="2286000" cy="411480"/>
          </a:xfrm>
          <a:prstGeom prst="rect">
            <a:avLst/>
          </a:prstGeom>
          <a:noFill/>
        </p:spPr>
        <p:txBody>
          <a:bodyPr wrap="square">
            <a:spAutoFit/>
          </a:bodyPr>
          <a:lstStyle/>
          <a:p>
            <a:pPr algn="l">
              <a:defRPr sz="1200" b="0">
                <a:solidFill>
                  <a:srgbClr val="FFFFFF"/>
                </a:solidFill>
                <a:latin typeface="Calibri"/>
              </a:defRPr>
            </a:pPr>
            <a:r>
              <a:t>Personalized picks</a:t>
            </a:r>
          </a:p>
        </p:txBody>
      </p:sp>
      <p:sp>
        <p:nvSpPr>
          <p:cNvPr id="32" name="TextBox 31"/>
          <p:cNvSpPr txBox="1"/>
          <p:nvPr/>
        </p:nvSpPr>
        <p:spPr>
          <a:xfrm>
            <a:off x="6400800" y="4078224"/>
            <a:ext cx="4846320" cy="411480"/>
          </a:xfrm>
          <a:prstGeom prst="rect">
            <a:avLst/>
          </a:prstGeom>
          <a:noFill/>
        </p:spPr>
        <p:txBody>
          <a:bodyPr wrap="square">
            <a:spAutoFit/>
          </a:bodyPr>
          <a:lstStyle/>
          <a:p>
            <a:pPr algn="l">
              <a:defRPr sz="1100" b="0">
                <a:solidFill>
                  <a:srgbClr val="94A3B8"/>
                </a:solidFill>
                <a:latin typeface="Calibri"/>
              </a:defRPr>
            </a:pPr>
            <a:r>
              <a:t>Recommendations based on multiple liked movies</a:t>
            </a:r>
          </a:p>
        </p:txBody>
      </p:sp>
      <p:sp>
        <p:nvSpPr>
          <p:cNvPr id="33" name="Rounded Rectangle 32"/>
          <p:cNvSpPr/>
          <p:nvPr/>
        </p:nvSpPr>
        <p:spPr>
          <a:xfrm>
            <a:off x="731520" y="4645152"/>
            <a:ext cx="10698480" cy="59436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2960" y="4754880"/>
            <a:ext cx="640080" cy="320040"/>
          </a:xfrm>
          <a:prstGeom prst="round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2960" y="4754880"/>
            <a:ext cx="640080" cy="320040"/>
          </a:xfrm>
          <a:prstGeom prst="rect">
            <a:avLst/>
          </a:prstGeom>
          <a:noFill/>
        </p:spPr>
        <p:txBody>
          <a:bodyPr wrap="square">
            <a:spAutoFit/>
          </a:bodyPr>
          <a:lstStyle/>
          <a:p>
            <a:pPr algn="ctr">
              <a:defRPr sz="1000" b="1">
                <a:solidFill>
                  <a:srgbClr val="FFFFFF"/>
                </a:solidFill>
                <a:latin typeface="Calibri"/>
              </a:defRPr>
            </a:pPr>
            <a:r>
              <a:t>GET</a:t>
            </a:r>
          </a:p>
        </p:txBody>
      </p:sp>
      <p:sp>
        <p:nvSpPr>
          <p:cNvPr id="36" name="TextBox 35"/>
          <p:cNvSpPr txBox="1"/>
          <p:nvPr/>
        </p:nvSpPr>
        <p:spPr>
          <a:xfrm>
            <a:off x="1645920" y="4736592"/>
            <a:ext cx="2468880" cy="411480"/>
          </a:xfrm>
          <a:prstGeom prst="rect">
            <a:avLst/>
          </a:prstGeom>
          <a:noFill/>
        </p:spPr>
        <p:txBody>
          <a:bodyPr wrap="square">
            <a:spAutoFit/>
          </a:bodyPr>
          <a:lstStyle/>
          <a:p>
            <a:pPr algn="l">
              <a:defRPr sz="1100" b="1">
                <a:solidFill>
                  <a:srgbClr val="38BDF8"/>
                </a:solidFill>
                <a:latin typeface="Calibri"/>
              </a:defRPr>
            </a:pPr>
            <a:r>
              <a:t>/graph/{title}</a:t>
            </a:r>
          </a:p>
        </p:txBody>
      </p:sp>
      <p:sp>
        <p:nvSpPr>
          <p:cNvPr id="37" name="TextBox 36"/>
          <p:cNvSpPr txBox="1"/>
          <p:nvPr/>
        </p:nvSpPr>
        <p:spPr>
          <a:xfrm>
            <a:off x="4114800" y="4736592"/>
            <a:ext cx="2286000" cy="411480"/>
          </a:xfrm>
          <a:prstGeom prst="rect">
            <a:avLst/>
          </a:prstGeom>
          <a:noFill/>
        </p:spPr>
        <p:txBody>
          <a:bodyPr wrap="square">
            <a:spAutoFit/>
          </a:bodyPr>
          <a:lstStyle/>
          <a:p>
            <a:pPr algn="l">
              <a:defRPr sz="1200" b="0">
                <a:solidFill>
                  <a:srgbClr val="FFFFFF"/>
                </a:solidFill>
                <a:latin typeface="Calibri"/>
              </a:defRPr>
            </a:pPr>
            <a:r>
              <a:t>Similarity graph</a:t>
            </a:r>
          </a:p>
        </p:txBody>
      </p:sp>
      <p:sp>
        <p:nvSpPr>
          <p:cNvPr id="38" name="TextBox 37"/>
          <p:cNvSpPr txBox="1"/>
          <p:nvPr/>
        </p:nvSpPr>
        <p:spPr>
          <a:xfrm>
            <a:off x="6400800" y="4736592"/>
            <a:ext cx="4846320" cy="411480"/>
          </a:xfrm>
          <a:prstGeom prst="rect">
            <a:avLst/>
          </a:prstGeom>
          <a:noFill/>
        </p:spPr>
        <p:txBody>
          <a:bodyPr wrap="square">
            <a:spAutoFit/>
          </a:bodyPr>
          <a:lstStyle/>
          <a:p>
            <a:pPr algn="l">
              <a:defRPr sz="1100" b="0">
                <a:solidFill>
                  <a:srgbClr val="94A3B8"/>
                </a:solidFill>
                <a:latin typeface="Calibri"/>
              </a:defRPr>
            </a:pPr>
            <a:r>
              <a:t>Nodes &amp; weighted links for D3 force-graph visualization</a:t>
            </a:r>
          </a:p>
        </p:txBody>
      </p:sp>
      <p:sp>
        <p:nvSpPr>
          <p:cNvPr id="39" name="Rounded Rectangle 38"/>
          <p:cNvSpPr/>
          <p:nvPr/>
        </p:nvSpPr>
        <p:spPr>
          <a:xfrm>
            <a:off x="731520" y="5303520"/>
            <a:ext cx="10698480" cy="59436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22960" y="5413248"/>
            <a:ext cx="640080" cy="320040"/>
          </a:xfrm>
          <a:prstGeom prst="round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2960" y="5413248"/>
            <a:ext cx="640080" cy="320040"/>
          </a:xfrm>
          <a:prstGeom prst="rect">
            <a:avLst/>
          </a:prstGeom>
          <a:noFill/>
        </p:spPr>
        <p:txBody>
          <a:bodyPr wrap="square">
            <a:spAutoFit/>
          </a:bodyPr>
          <a:lstStyle/>
          <a:p>
            <a:pPr algn="ctr">
              <a:defRPr sz="1000" b="1">
                <a:solidFill>
                  <a:srgbClr val="FFFFFF"/>
                </a:solidFill>
                <a:latin typeface="Calibri"/>
              </a:defRPr>
            </a:pPr>
            <a:r>
              <a:t>GET</a:t>
            </a:r>
          </a:p>
        </p:txBody>
      </p:sp>
      <p:sp>
        <p:nvSpPr>
          <p:cNvPr id="42" name="TextBox 41"/>
          <p:cNvSpPr txBox="1"/>
          <p:nvPr/>
        </p:nvSpPr>
        <p:spPr>
          <a:xfrm>
            <a:off x="1645920" y="5394960"/>
            <a:ext cx="2468880" cy="411480"/>
          </a:xfrm>
          <a:prstGeom prst="rect">
            <a:avLst/>
          </a:prstGeom>
          <a:noFill/>
        </p:spPr>
        <p:txBody>
          <a:bodyPr wrap="square">
            <a:spAutoFit/>
          </a:bodyPr>
          <a:lstStyle/>
          <a:p>
            <a:pPr algn="l">
              <a:defRPr sz="1100" b="1">
                <a:solidFill>
                  <a:srgbClr val="38BDF8"/>
                </a:solidFill>
                <a:latin typeface="Calibri"/>
              </a:defRPr>
            </a:pPr>
            <a:r>
              <a:t>/poster/{title}</a:t>
            </a:r>
          </a:p>
        </p:txBody>
      </p:sp>
      <p:sp>
        <p:nvSpPr>
          <p:cNvPr id="43" name="TextBox 42"/>
          <p:cNvSpPr txBox="1"/>
          <p:nvPr/>
        </p:nvSpPr>
        <p:spPr>
          <a:xfrm>
            <a:off x="4114800" y="5394960"/>
            <a:ext cx="2286000" cy="411480"/>
          </a:xfrm>
          <a:prstGeom prst="rect">
            <a:avLst/>
          </a:prstGeom>
          <a:noFill/>
        </p:spPr>
        <p:txBody>
          <a:bodyPr wrap="square">
            <a:spAutoFit/>
          </a:bodyPr>
          <a:lstStyle/>
          <a:p>
            <a:pPr algn="l">
              <a:defRPr sz="1200" b="0">
                <a:solidFill>
                  <a:srgbClr val="FFFFFF"/>
                </a:solidFill>
                <a:latin typeface="Calibri"/>
              </a:defRPr>
            </a:pPr>
            <a:r>
              <a:t>Movie poster</a:t>
            </a:r>
          </a:p>
        </p:txBody>
      </p:sp>
      <p:sp>
        <p:nvSpPr>
          <p:cNvPr id="44" name="TextBox 43"/>
          <p:cNvSpPr txBox="1"/>
          <p:nvPr/>
        </p:nvSpPr>
        <p:spPr>
          <a:xfrm>
            <a:off x="6400800" y="5394960"/>
            <a:ext cx="4846320" cy="411480"/>
          </a:xfrm>
          <a:prstGeom prst="rect">
            <a:avLst/>
          </a:prstGeom>
          <a:noFill/>
        </p:spPr>
        <p:txBody>
          <a:bodyPr wrap="square">
            <a:spAutoFit/>
          </a:bodyPr>
          <a:lstStyle/>
          <a:p>
            <a:pPr algn="l">
              <a:defRPr sz="1100" b="0">
                <a:solidFill>
                  <a:srgbClr val="94A3B8"/>
                </a:solidFill>
                <a:latin typeface="Calibri"/>
              </a:defRPr>
            </a:pPr>
            <a:r>
              <a:t>Wikipedia thumbnail URL for movie card display</a:t>
            </a:r>
          </a:p>
        </p:txBody>
      </p:sp>
      <p:sp>
        <p:nvSpPr>
          <p:cNvPr id="45" name="Rounded Rectangle 44"/>
          <p:cNvSpPr/>
          <p:nvPr/>
        </p:nvSpPr>
        <p:spPr>
          <a:xfrm>
            <a:off x="731520" y="5961888"/>
            <a:ext cx="10698480" cy="59436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822960" y="6071616"/>
            <a:ext cx="640080" cy="320040"/>
          </a:xfrm>
          <a:prstGeom prst="round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22960" y="6071616"/>
            <a:ext cx="640080" cy="320040"/>
          </a:xfrm>
          <a:prstGeom prst="rect">
            <a:avLst/>
          </a:prstGeom>
          <a:noFill/>
        </p:spPr>
        <p:txBody>
          <a:bodyPr wrap="square">
            <a:spAutoFit/>
          </a:bodyPr>
          <a:lstStyle/>
          <a:p>
            <a:pPr algn="ctr">
              <a:defRPr sz="1000" b="1">
                <a:solidFill>
                  <a:srgbClr val="FFFFFF"/>
                </a:solidFill>
                <a:latin typeface="Calibri"/>
              </a:defRPr>
            </a:pPr>
            <a:r>
              <a:t>GET</a:t>
            </a:r>
          </a:p>
        </p:txBody>
      </p:sp>
      <p:sp>
        <p:nvSpPr>
          <p:cNvPr id="48" name="TextBox 47"/>
          <p:cNvSpPr txBox="1"/>
          <p:nvPr/>
        </p:nvSpPr>
        <p:spPr>
          <a:xfrm>
            <a:off x="1645920" y="6053328"/>
            <a:ext cx="2468880" cy="411480"/>
          </a:xfrm>
          <a:prstGeom prst="rect">
            <a:avLst/>
          </a:prstGeom>
          <a:noFill/>
        </p:spPr>
        <p:txBody>
          <a:bodyPr wrap="square">
            <a:spAutoFit/>
          </a:bodyPr>
          <a:lstStyle/>
          <a:p>
            <a:pPr algn="l">
              <a:defRPr sz="1100" b="1">
                <a:solidFill>
                  <a:srgbClr val="38BDF8"/>
                </a:solidFill>
                <a:latin typeface="Calibri"/>
              </a:defRPr>
            </a:pPr>
            <a:r>
              <a:t>/metrics</a:t>
            </a:r>
          </a:p>
        </p:txBody>
      </p:sp>
      <p:sp>
        <p:nvSpPr>
          <p:cNvPr id="49" name="TextBox 48"/>
          <p:cNvSpPr txBox="1"/>
          <p:nvPr/>
        </p:nvSpPr>
        <p:spPr>
          <a:xfrm>
            <a:off x="4114800" y="6053328"/>
            <a:ext cx="2286000" cy="411480"/>
          </a:xfrm>
          <a:prstGeom prst="rect">
            <a:avLst/>
          </a:prstGeom>
          <a:noFill/>
        </p:spPr>
        <p:txBody>
          <a:bodyPr wrap="square">
            <a:spAutoFit/>
          </a:bodyPr>
          <a:lstStyle/>
          <a:p>
            <a:pPr algn="l">
              <a:defRPr sz="1200" b="0">
                <a:solidFill>
                  <a:srgbClr val="FFFFFF"/>
                </a:solidFill>
                <a:latin typeface="Calibri"/>
              </a:defRPr>
            </a:pPr>
            <a:r>
              <a:t>Evaluation metrics</a:t>
            </a:r>
          </a:p>
        </p:txBody>
      </p:sp>
      <p:sp>
        <p:nvSpPr>
          <p:cNvPr id="50" name="TextBox 49"/>
          <p:cNvSpPr txBox="1"/>
          <p:nvPr/>
        </p:nvSpPr>
        <p:spPr>
          <a:xfrm>
            <a:off x="6400800" y="6053328"/>
            <a:ext cx="4846320" cy="411480"/>
          </a:xfrm>
          <a:prstGeom prst="rect">
            <a:avLst/>
          </a:prstGeom>
          <a:noFill/>
        </p:spPr>
        <p:txBody>
          <a:bodyPr wrap="square">
            <a:spAutoFit/>
          </a:bodyPr>
          <a:lstStyle/>
          <a:p>
            <a:pPr algn="l">
              <a:defRPr sz="1100" b="0">
                <a:solidFill>
                  <a:srgbClr val="94A3B8"/>
                </a:solidFill>
                <a:latin typeface="Calibri"/>
              </a:defRPr>
            </a:pPr>
            <a:r>
              <a:t>RMSE, MAE, Precision@10, Recall@10 performance data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9144000" cy="640080"/>
          </a:xfrm>
          <a:prstGeom prst="rect">
            <a:avLst/>
          </a:prstGeom>
          <a:noFill/>
        </p:spPr>
        <p:txBody>
          <a:bodyPr wrap="square">
            <a:spAutoFit/>
          </a:bodyPr>
          <a:lstStyle/>
          <a:p>
            <a:pPr algn="l">
              <a:defRPr sz="3600" b="1">
                <a:solidFill>
                  <a:srgbClr val="FFFFFF"/>
                </a:solidFill>
                <a:latin typeface="Calibri"/>
              </a:defRPr>
            </a:pPr>
            <a:r>
              <a:t>07  Evaluation Metrics</a:t>
            </a:r>
          </a:p>
        </p:txBody>
      </p:sp>
      <p:sp>
        <p:nvSpPr>
          <p:cNvPr id="3" name="Rectangle 2"/>
          <p:cNvSpPr/>
          <p:nvPr/>
        </p:nvSpPr>
        <p:spPr>
          <a:xfrm>
            <a:off x="731520" y="1097280"/>
            <a:ext cx="2743200" cy="381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10698480" cy="1371600"/>
          </a:xfrm>
          <a:prstGeom prst="roundRect">
            <a:avLst/>
          </a:prstGeom>
          <a:solidFill>
            <a:srgbClr val="1A253C"/>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00200"/>
            <a:ext cx="10058400" cy="320040"/>
          </a:xfrm>
          <a:prstGeom prst="rect">
            <a:avLst/>
          </a:prstGeom>
          <a:noFill/>
        </p:spPr>
        <p:txBody>
          <a:bodyPr wrap="square">
            <a:spAutoFit/>
          </a:bodyPr>
          <a:lstStyle/>
          <a:p>
            <a:pPr algn="l">
              <a:defRPr sz="1800" b="1">
                <a:solidFill>
                  <a:srgbClr val="A78BFA"/>
                </a:solidFill>
                <a:latin typeface="Calibri"/>
              </a:defRPr>
            </a:pPr>
            <a:r>
              <a:t>📐 Methodology</a:t>
            </a:r>
          </a:p>
        </p:txBody>
      </p:sp>
      <p:sp>
        <p:nvSpPr>
          <p:cNvPr id="6" name="TextBox 5"/>
          <p:cNvSpPr txBox="1"/>
          <p:nvPr/>
        </p:nvSpPr>
        <p:spPr>
          <a:xfrm>
            <a:off x="1005840" y="1965960"/>
            <a:ext cx="10058400" cy="731520"/>
          </a:xfrm>
          <a:prstGeom prst="rect">
            <a:avLst/>
          </a:prstGeom>
          <a:noFill/>
        </p:spPr>
        <p:txBody>
          <a:bodyPr wrap="square">
            <a:spAutoFit/>
          </a:bodyPr>
          <a:lstStyle/>
          <a:p>
            <a:pPr algn="l">
              <a:defRPr sz="1300" b="0">
                <a:solidFill>
                  <a:srgbClr val="CBD5E1"/>
                </a:solidFill>
                <a:latin typeface="Calibri"/>
              </a:defRPr>
            </a:pPr>
            <a:r>
              <a:t>The system uses an 80/20 train-test split on user ratings. TruncatedSVD (50 components) creates a low-rank approximation of the user-movie matrix as predicted ratings. A "relevant" item is defined as a movie the user rated ≥ 4.0 in the test set.</a:t>
            </a:r>
          </a:p>
        </p:txBody>
      </p:sp>
      <p:sp>
        <p:nvSpPr>
          <p:cNvPr id="7" name="Rounded Rectangle 6"/>
          <p:cNvSpPr/>
          <p:nvPr/>
        </p:nvSpPr>
        <p:spPr>
          <a:xfrm>
            <a:off x="815187" y="3200400"/>
            <a:ext cx="2468880" cy="3200400"/>
          </a:xfrm>
          <a:prstGeom prst="roundRect">
            <a:avLst/>
          </a:prstGeom>
          <a:solidFill>
            <a:srgbClr val="1A253C"/>
          </a:solidFill>
          <a:ln w="1905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5187" y="3429000"/>
            <a:ext cx="2468880" cy="457200"/>
          </a:xfrm>
          <a:prstGeom prst="rect">
            <a:avLst/>
          </a:prstGeom>
          <a:noFill/>
        </p:spPr>
        <p:txBody>
          <a:bodyPr wrap="square">
            <a:spAutoFit/>
          </a:bodyPr>
          <a:lstStyle/>
          <a:p>
            <a:pPr algn="ctr">
              <a:defRPr sz="2800" b="1">
                <a:solidFill>
                  <a:srgbClr val="38BDF8"/>
                </a:solidFill>
                <a:latin typeface="Calibri"/>
              </a:defRPr>
            </a:pPr>
            <a:r>
              <a:t>RMSE</a:t>
            </a:r>
          </a:p>
        </p:txBody>
      </p:sp>
      <p:sp>
        <p:nvSpPr>
          <p:cNvPr id="9" name="TextBox 8"/>
          <p:cNvSpPr txBox="1"/>
          <p:nvPr/>
        </p:nvSpPr>
        <p:spPr>
          <a:xfrm>
            <a:off x="815187" y="3931920"/>
            <a:ext cx="2468880" cy="320040"/>
          </a:xfrm>
          <a:prstGeom prst="rect">
            <a:avLst/>
          </a:prstGeom>
          <a:noFill/>
        </p:spPr>
        <p:txBody>
          <a:bodyPr wrap="square">
            <a:spAutoFit/>
          </a:bodyPr>
          <a:lstStyle/>
          <a:p>
            <a:pPr algn="ctr">
              <a:defRPr sz="1100" b="0">
                <a:solidFill>
                  <a:srgbClr val="FFFFFF"/>
                </a:solidFill>
                <a:latin typeface="Calibri"/>
              </a:defRPr>
            </a:pPr>
            <a:r>
              <a:t>Root Mean Squared Error</a:t>
            </a:r>
          </a:p>
        </p:txBody>
      </p:sp>
      <p:sp>
        <p:nvSpPr>
          <p:cNvPr id="10" name="Rounded Rectangle 9"/>
          <p:cNvSpPr/>
          <p:nvPr/>
        </p:nvSpPr>
        <p:spPr>
          <a:xfrm>
            <a:off x="998067" y="4389120"/>
            <a:ext cx="2103120" cy="4572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8067" y="4434840"/>
            <a:ext cx="2103120" cy="365760"/>
          </a:xfrm>
          <a:prstGeom prst="rect">
            <a:avLst/>
          </a:prstGeom>
          <a:noFill/>
        </p:spPr>
        <p:txBody>
          <a:bodyPr wrap="square">
            <a:spAutoFit/>
          </a:bodyPr>
          <a:lstStyle/>
          <a:p>
            <a:pPr algn="ctr">
              <a:defRPr sz="1000" b="0">
                <a:solidFill>
                  <a:srgbClr val="38BDF8"/>
                </a:solidFill>
                <a:latin typeface="Calibri"/>
              </a:defRPr>
            </a:pPr>
            <a:r>
              <a:t>√(mean((pred - actual)²))</a:t>
            </a:r>
          </a:p>
        </p:txBody>
      </p:sp>
      <p:sp>
        <p:nvSpPr>
          <p:cNvPr id="12" name="TextBox 11"/>
          <p:cNvSpPr txBox="1"/>
          <p:nvPr/>
        </p:nvSpPr>
        <p:spPr>
          <a:xfrm>
            <a:off x="998067" y="5120640"/>
            <a:ext cx="2103120" cy="914400"/>
          </a:xfrm>
          <a:prstGeom prst="rect">
            <a:avLst/>
          </a:prstGeom>
          <a:noFill/>
        </p:spPr>
        <p:txBody>
          <a:bodyPr wrap="square">
            <a:spAutoFit/>
          </a:bodyPr>
          <a:lstStyle/>
          <a:p>
            <a:pPr algn="ctr">
              <a:defRPr sz="1200" b="0">
                <a:solidFill>
                  <a:srgbClr val="94A3B8"/>
                </a:solidFill>
                <a:latin typeface="Calibri"/>
              </a:defRPr>
            </a:pPr>
            <a:r>
              <a:t>Penalizes larger errors more heavily</a:t>
            </a:r>
          </a:p>
        </p:txBody>
      </p:sp>
      <p:sp>
        <p:nvSpPr>
          <p:cNvPr id="13" name="Rounded Rectangle 12"/>
          <p:cNvSpPr/>
          <p:nvPr/>
        </p:nvSpPr>
        <p:spPr>
          <a:xfrm>
            <a:off x="3512667" y="3200400"/>
            <a:ext cx="2468880" cy="3200400"/>
          </a:xfrm>
          <a:prstGeom prst="roundRect">
            <a:avLst/>
          </a:prstGeom>
          <a:solidFill>
            <a:srgbClr val="1A253C"/>
          </a:solidFill>
          <a:ln w="1905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12667" y="3429000"/>
            <a:ext cx="2468880" cy="457200"/>
          </a:xfrm>
          <a:prstGeom prst="rect">
            <a:avLst/>
          </a:prstGeom>
          <a:noFill/>
        </p:spPr>
        <p:txBody>
          <a:bodyPr wrap="square">
            <a:spAutoFit/>
          </a:bodyPr>
          <a:lstStyle/>
          <a:p>
            <a:pPr algn="ctr">
              <a:defRPr sz="2800" b="1">
                <a:solidFill>
                  <a:srgbClr val="34D399"/>
                </a:solidFill>
                <a:latin typeface="Calibri"/>
              </a:defRPr>
            </a:pPr>
            <a:r>
              <a:t>MAE</a:t>
            </a:r>
          </a:p>
        </p:txBody>
      </p:sp>
      <p:sp>
        <p:nvSpPr>
          <p:cNvPr id="15" name="TextBox 14"/>
          <p:cNvSpPr txBox="1"/>
          <p:nvPr/>
        </p:nvSpPr>
        <p:spPr>
          <a:xfrm>
            <a:off x="3512667" y="3931920"/>
            <a:ext cx="2468880" cy="320040"/>
          </a:xfrm>
          <a:prstGeom prst="rect">
            <a:avLst/>
          </a:prstGeom>
          <a:noFill/>
        </p:spPr>
        <p:txBody>
          <a:bodyPr wrap="square">
            <a:spAutoFit/>
          </a:bodyPr>
          <a:lstStyle/>
          <a:p>
            <a:pPr algn="ctr">
              <a:defRPr sz="1100" b="0">
                <a:solidFill>
                  <a:srgbClr val="FFFFFF"/>
                </a:solidFill>
                <a:latin typeface="Calibri"/>
              </a:defRPr>
            </a:pPr>
            <a:r>
              <a:t>Mean Absolute Error</a:t>
            </a:r>
          </a:p>
        </p:txBody>
      </p:sp>
      <p:sp>
        <p:nvSpPr>
          <p:cNvPr id="16" name="Rounded Rectangle 15"/>
          <p:cNvSpPr/>
          <p:nvPr/>
        </p:nvSpPr>
        <p:spPr>
          <a:xfrm>
            <a:off x="3695547" y="4389120"/>
            <a:ext cx="2103120" cy="4572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95547" y="4434840"/>
            <a:ext cx="2103120" cy="365760"/>
          </a:xfrm>
          <a:prstGeom prst="rect">
            <a:avLst/>
          </a:prstGeom>
          <a:noFill/>
        </p:spPr>
        <p:txBody>
          <a:bodyPr wrap="square">
            <a:spAutoFit/>
          </a:bodyPr>
          <a:lstStyle/>
          <a:p>
            <a:pPr algn="ctr">
              <a:defRPr sz="1000" b="0">
                <a:solidFill>
                  <a:srgbClr val="38BDF8"/>
                </a:solidFill>
                <a:latin typeface="Calibri"/>
              </a:defRPr>
            </a:pPr>
            <a:r>
              <a:t>mean(|pred - actual|)</a:t>
            </a:r>
          </a:p>
        </p:txBody>
      </p:sp>
      <p:sp>
        <p:nvSpPr>
          <p:cNvPr id="18" name="TextBox 17"/>
          <p:cNvSpPr txBox="1"/>
          <p:nvPr/>
        </p:nvSpPr>
        <p:spPr>
          <a:xfrm>
            <a:off x="3695547" y="5120640"/>
            <a:ext cx="2103120" cy="914400"/>
          </a:xfrm>
          <a:prstGeom prst="rect">
            <a:avLst/>
          </a:prstGeom>
          <a:noFill/>
        </p:spPr>
        <p:txBody>
          <a:bodyPr wrap="square">
            <a:spAutoFit/>
          </a:bodyPr>
          <a:lstStyle/>
          <a:p>
            <a:pPr algn="ctr">
              <a:defRPr sz="1200" b="0">
                <a:solidFill>
                  <a:srgbClr val="94A3B8"/>
                </a:solidFill>
                <a:latin typeface="Calibri"/>
              </a:defRPr>
            </a:pPr>
            <a:r>
              <a:t>Average magnitude of prediction errors</a:t>
            </a:r>
          </a:p>
        </p:txBody>
      </p:sp>
      <p:sp>
        <p:nvSpPr>
          <p:cNvPr id="19" name="Rounded Rectangle 18"/>
          <p:cNvSpPr/>
          <p:nvPr/>
        </p:nvSpPr>
        <p:spPr>
          <a:xfrm>
            <a:off x="6210147" y="3200400"/>
            <a:ext cx="2468880" cy="3200400"/>
          </a:xfrm>
          <a:prstGeom prst="roundRect">
            <a:avLst/>
          </a:prstGeom>
          <a:solidFill>
            <a:srgbClr val="1A253C"/>
          </a:solidFill>
          <a:ln w="19050">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0147" y="3429000"/>
            <a:ext cx="2468880" cy="457200"/>
          </a:xfrm>
          <a:prstGeom prst="rect">
            <a:avLst/>
          </a:prstGeom>
          <a:noFill/>
        </p:spPr>
        <p:txBody>
          <a:bodyPr wrap="square">
            <a:spAutoFit/>
          </a:bodyPr>
          <a:lstStyle/>
          <a:p>
            <a:pPr algn="ctr">
              <a:defRPr sz="2800" b="1">
                <a:solidFill>
                  <a:srgbClr val="FBBF24"/>
                </a:solidFill>
                <a:latin typeface="Calibri"/>
              </a:defRPr>
            </a:pPr>
            <a:r>
              <a:t>P@10</a:t>
            </a:r>
          </a:p>
        </p:txBody>
      </p:sp>
      <p:sp>
        <p:nvSpPr>
          <p:cNvPr id="21" name="TextBox 20"/>
          <p:cNvSpPr txBox="1"/>
          <p:nvPr/>
        </p:nvSpPr>
        <p:spPr>
          <a:xfrm>
            <a:off x="6210147" y="3931920"/>
            <a:ext cx="2468880" cy="320040"/>
          </a:xfrm>
          <a:prstGeom prst="rect">
            <a:avLst/>
          </a:prstGeom>
          <a:noFill/>
        </p:spPr>
        <p:txBody>
          <a:bodyPr wrap="square">
            <a:spAutoFit/>
          </a:bodyPr>
          <a:lstStyle/>
          <a:p>
            <a:pPr algn="ctr">
              <a:defRPr sz="1100" b="0">
                <a:solidFill>
                  <a:srgbClr val="FFFFFF"/>
                </a:solidFill>
                <a:latin typeface="Calibri"/>
              </a:defRPr>
            </a:pPr>
            <a:r>
              <a:t>Precision at 10</a:t>
            </a:r>
          </a:p>
        </p:txBody>
      </p:sp>
      <p:sp>
        <p:nvSpPr>
          <p:cNvPr id="22" name="Rounded Rectangle 21"/>
          <p:cNvSpPr/>
          <p:nvPr/>
        </p:nvSpPr>
        <p:spPr>
          <a:xfrm>
            <a:off x="6393027" y="4389120"/>
            <a:ext cx="2103120" cy="4572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93027" y="4434840"/>
            <a:ext cx="2103120" cy="365760"/>
          </a:xfrm>
          <a:prstGeom prst="rect">
            <a:avLst/>
          </a:prstGeom>
          <a:noFill/>
        </p:spPr>
        <p:txBody>
          <a:bodyPr wrap="square">
            <a:spAutoFit/>
          </a:bodyPr>
          <a:lstStyle/>
          <a:p>
            <a:pPr algn="ctr">
              <a:defRPr sz="1000" b="0">
                <a:solidFill>
                  <a:srgbClr val="38BDF8"/>
                </a:solidFill>
                <a:latin typeface="Calibri"/>
              </a:defRPr>
            </a:pPr>
            <a:r>
              <a:t>|relevant ∩ top-10| / 10</a:t>
            </a:r>
          </a:p>
        </p:txBody>
      </p:sp>
      <p:sp>
        <p:nvSpPr>
          <p:cNvPr id="24" name="TextBox 23"/>
          <p:cNvSpPr txBox="1"/>
          <p:nvPr/>
        </p:nvSpPr>
        <p:spPr>
          <a:xfrm>
            <a:off x="6393027" y="5120640"/>
            <a:ext cx="2103120" cy="914400"/>
          </a:xfrm>
          <a:prstGeom prst="rect">
            <a:avLst/>
          </a:prstGeom>
          <a:noFill/>
        </p:spPr>
        <p:txBody>
          <a:bodyPr wrap="square">
            <a:spAutoFit/>
          </a:bodyPr>
          <a:lstStyle/>
          <a:p>
            <a:pPr algn="ctr">
              <a:defRPr sz="1200" b="0">
                <a:solidFill>
                  <a:srgbClr val="94A3B8"/>
                </a:solidFill>
                <a:latin typeface="Calibri"/>
              </a:defRPr>
            </a:pPr>
            <a:r>
              <a:t>Fraction of top-10 that are relevant</a:t>
            </a:r>
          </a:p>
        </p:txBody>
      </p:sp>
      <p:sp>
        <p:nvSpPr>
          <p:cNvPr id="25" name="Rounded Rectangle 24"/>
          <p:cNvSpPr/>
          <p:nvPr/>
        </p:nvSpPr>
        <p:spPr>
          <a:xfrm>
            <a:off x="8907627" y="3200400"/>
            <a:ext cx="2468880" cy="3200400"/>
          </a:xfrm>
          <a:prstGeom prst="roundRect">
            <a:avLst/>
          </a:prstGeom>
          <a:solidFill>
            <a:srgbClr val="1A253C"/>
          </a:solidFill>
          <a:ln w="19050">
            <a:solidFill>
              <a:srgbClr val="FB71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07627" y="3429000"/>
            <a:ext cx="2468880" cy="457200"/>
          </a:xfrm>
          <a:prstGeom prst="rect">
            <a:avLst/>
          </a:prstGeom>
          <a:noFill/>
        </p:spPr>
        <p:txBody>
          <a:bodyPr wrap="square">
            <a:spAutoFit/>
          </a:bodyPr>
          <a:lstStyle/>
          <a:p>
            <a:pPr algn="ctr">
              <a:defRPr sz="2800" b="1">
                <a:solidFill>
                  <a:srgbClr val="FB7185"/>
                </a:solidFill>
                <a:latin typeface="Calibri"/>
              </a:defRPr>
            </a:pPr>
            <a:r>
              <a:t>R@10</a:t>
            </a:r>
          </a:p>
        </p:txBody>
      </p:sp>
      <p:sp>
        <p:nvSpPr>
          <p:cNvPr id="27" name="TextBox 26"/>
          <p:cNvSpPr txBox="1"/>
          <p:nvPr/>
        </p:nvSpPr>
        <p:spPr>
          <a:xfrm>
            <a:off x="8907627" y="3931920"/>
            <a:ext cx="2468880" cy="320040"/>
          </a:xfrm>
          <a:prstGeom prst="rect">
            <a:avLst/>
          </a:prstGeom>
          <a:noFill/>
        </p:spPr>
        <p:txBody>
          <a:bodyPr wrap="square">
            <a:spAutoFit/>
          </a:bodyPr>
          <a:lstStyle/>
          <a:p>
            <a:pPr algn="ctr">
              <a:defRPr sz="1100" b="0">
                <a:solidFill>
                  <a:srgbClr val="FFFFFF"/>
                </a:solidFill>
                <a:latin typeface="Calibri"/>
              </a:defRPr>
            </a:pPr>
            <a:r>
              <a:t>Recall at 10</a:t>
            </a:r>
          </a:p>
        </p:txBody>
      </p:sp>
      <p:sp>
        <p:nvSpPr>
          <p:cNvPr id="28" name="Rounded Rectangle 27"/>
          <p:cNvSpPr/>
          <p:nvPr/>
        </p:nvSpPr>
        <p:spPr>
          <a:xfrm>
            <a:off x="9090507" y="4389120"/>
            <a:ext cx="2103120" cy="4572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90507" y="4434840"/>
            <a:ext cx="2103120" cy="365760"/>
          </a:xfrm>
          <a:prstGeom prst="rect">
            <a:avLst/>
          </a:prstGeom>
          <a:noFill/>
        </p:spPr>
        <p:txBody>
          <a:bodyPr wrap="square">
            <a:spAutoFit/>
          </a:bodyPr>
          <a:lstStyle/>
          <a:p>
            <a:pPr algn="ctr">
              <a:defRPr sz="1000" b="0">
                <a:solidFill>
                  <a:srgbClr val="38BDF8"/>
                </a:solidFill>
                <a:latin typeface="Calibri"/>
              </a:defRPr>
            </a:pPr>
            <a:r>
              <a:t>|relevant ∩ top-10| / |relevant|</a:t>
            </a:r>
          </a:p>
        </p:txBody>
      </p:sp>
      <p:sp>
        <p:nvSpPr>
          <p:cNvPr id="30" name="TextBox 29"/>
          <p:cNvSpPr txBox="1"/>
          <p:nvPr/>
        </p:nvSpPr>
        <p:spPr>
          <a:xfrm>
            <a:off x="9090507" y="5120640"/>
            <a:ext cx="2103120" cy="914400"/>
          </a:xfrm>
          <a:prstGeom prst="rect">
            <a:avLst/>
          </a:prstGeom>
          <a:noFill/>
        </p:spPr>
        <p:txBody>
          <a:bodyPr wrap="square">
            <a:spAutoFit/>
          </a:bodyPr>
          <a:lstStyle/>
          <a:p>
            <a:pPr algn="ctr">
              <a:defRPr sz="1200" b="0">
                <a:solidFill>
                  <a:srgbClr val="94A3B8"/>
                </a:solidFill>
                <a:latin typeface="Calibri"/>
              </a:defRPr>
            </a:pPr>
            <a:r>
              <a:t>How many relevant items are captured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7315200" cy="640080"/>
          </a:xfrm>
          <a:prstGeom prst="rect">
            <a:avLst/>
          </a:prstGeom>
          <a:noFill/>
        </p:spPr>
        <p:txBody>
          <a:bodyPr wrap="square">
            <a:spAutoFit/>
          </a:bodyPr>
          <a:lstStyle/>
          <a:p>
            <a:pPr algn="l">
              <a:defRPr sz="3600" b="1">
                <a:solidFill>
                  <a:srgbClr val="FFFFFF"/>
                </a:solidFill>
                <a:latin typeface="Calibri"/>
              </a:defRPr>
            </a:pPr>
            <a:r>
              <a:t>08  Results &amp; Analysis</a:t>
            </a:r>
          </a:p>
        </p:txBody>
      </p:sp>
      <p:sp>
        <p:nvSpPr>
          <p:cNvPr id="3" name="Rectangle 2"/>
          <p:cNvSpPr/>
          <p:nvPr/>
        </p:nvSpPr>
        <p:spPr>
          <a:xfrm>
            <a:off x="731520" y="1097280"/>
            <a:ext cx="2286000" cy="3810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371600"/>
            <a:ext cx="5394960" cy="2468880"/>
          </a:xfrm>
          <a:prstGeom prst="roundRect">
            <a:avLst/>
          </a:prstGeom>
          <a:solidFill>
            <a:srgbClr val="1A253C"/>
          </a:solidFill>
          <a:ln w="635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rror_metrics.png"/>
          <p:cNvPicPr>
            <a:picLocks noChangeAspect="1"/>
          </p:cNvPicPr>
          <p:nvPr/>
        </p:nvPicPr>
        <p:blipFill>
          <a:blip r:embed="rId2"/>
          <a:stretch>
            <a:fillRect/>
          </a:stretch>
        </p:blipFill>
        <p:spPr>
          <a:xfrm>
            <a:off x="548640" y="1463040"/>
            <a:ext cx="5212080" cy="2011680"/>
          </a:xfrm>
          <a:prstGeom prst="rect">
            <a:avLst/>
          </a:prstGeom>
        </p:spPr>
      </p:pic>
      <p:sp>
        <p:nvSpPr>
          <p:cNvPr id="6" name="TextBox 5"/>
          <p:cNvSpPr txBox="1"/>
          <p:nvPr/>
        </p:nvSpPr>
        <p:spPr>
          <a:xfrm>
            <a:off x="457200" y="3474720"/>
            <a:ext cx="5394960" cy="320040"/>
          </a:xfrm>
          <a:prstGeom prst="rect">
            <a:avLst/>
          </a:prstGeom>
          <a:noFill/>
        </p:spPr>
        <p:txBody>
          <a:bodyPr wrap="square">
            <a:spAutoFit/>
          </a:bodyPr>
          <a:lstStyle/>
          <a:p>
            <a:pPr algn="ctr">
              <a:defRPr sz="1100" b="0">
                <a:solidFill>
                  <a:srgbClr val="94A3B8"/>
                </a:solidFill>
                <a:latin typeface="Calibri"/>
              </a:defRPr>
            </a:pPr>
            <a:r>
              <a:t>Error Metrics (RMSE &amp; MAE)</a:t>
            </a:r>
          </a:p>
        </p:txBody>
      </p:sp>
      <p:sp>
        <p:nvSpPr>
          <p:cNvPr id="7" name="Rounded Rectangle 6"/>
          <p:cNvSpPr/>
          <p:nvPr/>
        </p:nvSpPr>
        <p:spPr>
          <a:xfrm>
            <a:off x="6217920" y="1371600"/>
            <a:ext cx="5394960" cy="2468880"/>
          </a:xfrm>
          <a:prstGeom prst="roundRect">
            <a:avLst/>
          </a:prstGeom>
          <a:solidFill>
            <a:srgbClr val="1A253C"/>
          </a:solidFill>
          <a:ln w="635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retrieval_metrics.png"/>
          <p:cNvPicPr>
            <a:picLocks noChangeAspect="1"/>
          </p:cNvPicPr>
          <p:nvPr/>
        </p:nvPicPr>
        <p:blipFill>
          <a:blip r:embed="rId3"/>
          <a:stretch>
            <a:fillRect/>
          </a:stretch>
        </p:blipFill>
        <p:spPr>
          <a:xfrm>
            <a:off x="6309360" y="1463040"/>
            <a:ext cx="5212080" cy="2011680"/>
          </a:xfrm>
          <a:prstGeom prst="rect">
            <a:avLst/>
          </a:prstGeom>
        </p:spPr>
      </p:pic>
      <p:sp>
        <p:nvSpPr>
          <p:cNvPr id="9" name="TextBox 8"/>
          <p:cNvSpPr txBox="1"/>
          <p:nvPr/>
        </p:nvSpPr>
        <p:spPr>
          <a:xfrm>
            <a:off x="6217920" y="3474720"/>
            <a:ext cx="5394960" cy="320040"/>
          </a:xfrm>
          <a:prstGeom prst="rect">
            <a:avLst/>
          </a:prstGeom>
          <a:noFill/>
        </p:spPr>
        <p:txBody>
          <a:bodyPr wrap="square">
            <a:spAutoFit/>
          </a:bodyPr>
          <a:lstStyle/>
          <a:p>
            <a:pPr algn="ctr">
              <a:defRPr sz="1100" b="0">
                <a:solidFill>
                  <a:srgbClr val="94A3B8"/>
                </a:solidFill>
                <a:latin typeface="Calibri"/>
              </a:defRPr>
            </a:pPr>
            <a:r>
              <a:t>Retrieval Metrics (P@10 &amp; R@10)</a:t>
            </a:r>
          </a:p>
        </p:txBody>
      </p:sp>
      <p:sp>
        <p:nvSpPr>
          <p:cNvPr id="10" name="Rounded Rectangle 9"/>
          <p:cNvSpPr/>
          <p:nvPr/>
        </p:nvSpPr>
        <p:spPr>
          <a:xfrm>
            <a:off x="457200" y="4114800"/>
            <a:ext cx="5394960" cy="2468880"/>
          </a:xfrm>
          <a:prstGeom prst="roundRect">
            <a:avLst/>
          </a:prstGeom>
          <a:solidFill>
            <a:srgbClr val="1A253C"/>
          </a:solidFill>
          <a:ln w="635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top_genres.png"/>
          <p:cNvPicPr>
            <a:picLocks noChangeAspect="1"/>
          </p:cNvPicPr>
          <p:nvPr/>
        </p:nvPicPr>
        <p:blipFill>
          <a:blip r:embed="rId4"/>
          <a:stretch>
            <a:fillRect/>
          </a:stretch>
        </p:blipFill>
        <p:spPr>
          <a:xfrm>
            <a:off x="548640" y="4206240"/>
            <a:ext cx="5212080" cy="2011680"/>
          </a:xfrm>
          <a:prstGeom prst="rect">
            <a:avLst/>
          </a:prstGeom>
        </p:spPr>
      </p:pic>
      <p:sp>
        <p:nvSpPr>
          <p:cNvPr id="12" name="TextBox 11"/>
          <p:cNvSpPr txBox="1"/>
          <p:nvPr/>
        </p:nvSpPr>
        <p:spPr>
          <a:xfrm>
            <a:off x="457200" y="6217920"/>
            <a:ext cx="5394960" cy="320040"/>
          </a:xfrm>
          <a:prstGeom prst="rect">
            <a:avLst/>
          </a:prstGeom>
          <a:noFill/>
        </p:spPr>
        <p:txBody>
          <a:bodyPr wrap="square">
            <a:spAutoFit/>
          </a:bodyPr>
          <a:lstStyle/>
          <a:p>
            <a:pPr algn="ctr">
              <a:defRPr sz="1100" b="0">
                <a:solidFill>
                  <a:srgbClr val="94A3B8"/>
                </a:solidFill>
                <a:latin typeface="Calibri"/>
              </a:defRPr>
            </a:pPr>
            <a:r>
              <a:t>Top Genre Distribution</a:t>
            </a:r>
          </a:p>
        </p:txBody>
      </p:sp>
      <p:sp>
        <p:nvSpPr>
          <p:cNvPr id="13" name="Rounded Rectangle 12"/>
          <p:cNvSpPr/>
          <p:nvPr/>
        </p:nvSpPr>
        <p:spPr>
          <a:xfrm>
            <a:off x="6217920" y="4114800"/>
            <a:ext cx="5394960" cy="2468880"/>
          </a:xfrm>
          <a:prstGeom prst="roundRect">
            <a:avLst/>
          </a:prstGeom>
          <a:solidFill>
            <a:srgbClr val="1A253C"/>
          </a:solidFill>
          <a:ln w="635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rating_distribution.png"/>
          <p:cNvPicPr>
            <a:picLocks noChangeAspect="1"/>
          </p:cNvPicPr>
          <p:nvPr/>
        </p:nvPicPr>
        <p:blipFill>
          <a:blip r:embed="rId5"/>
          <a:stretch>
            <a:fillRect/>
          </a:stretch>
        </p:blipFill>
        <p:spPr>
          <a:xfrm>
            <a:off x="6309360" y="4206240"/>
            <a:ext cx="5212080" cy="2011680"/>
          </a:xfrm>
          <a:prstGeom prst="rect">
            <a:avLst/>
          </a:prstGeom>
        </p:spPr>
      </p:pic>
      <p:sp>
        <p:nvSpPr>
          <p:cNvPr id="15" name="TextBox 14"/>
          <p:cNvSpPr txBox="1"/>
          <p:nvPr/>
        </p:nvSpPr>
        <p:spPr>
          <a:xfrm>
            <a:off x="6217920" y="6217920"/>
            <a:ext cx="5394960" cy="320040"/>
          </a:xfrm>
          <a:prstGeom prst="rect">
            <a:avLst/>
          </a:prstGeom>
          <a:noFill/>
        </p:spPr>
        <p:txBody>
          <a:bodyPr wrap="square">
            <a:spAutoFit/>
          </a:bodyPr>
          <a:lstStyle/>
          <a:p>
            <a:pPr algn="ctr">
              <a:defRPr sz="1100" b="0">
                <a:solidFill>
                  <a:srgbClr val="94A3B8"/>
                </a:solidFill>
                <a:latin typeface="Calibri"/>
              </a:defRPr>
            </a:pPr>
            <a:r>
              <a:t>Rating Distribution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7315200" cy="640080"/>
          </a:xfrm>
          <a:prstGeom prst="rect">
            <a:avLst/>
          </a:prstGeom>
          <a:noFill/>
        </p:spPr>
        <p:txBody>
          <a:bodyPr wrap="square">
            <a:spAutoFit/>
          </a:bodyPr>
          <a:lstStyle/>
          <a:p>
            <a:pPr algn="l">
              <a:defRPr sz="3600" b="1">
                <a:solidFill>
                  <a:srgbClr val="FFFFFF"/>
                </a:solidFill>
                <a:latin typeface="Calibri"/>
              </a:defRPr>
            </a:pPr>
            <a:r>
              <a:t>09  Key Features</a:t>
            </a:r>
          </a:p>
        </p:txBody>
      </p:sp>
      <p:sp>
        <p:nvSpPr>
          <p:cNvPr id="3" name="Rectangle 2"/>
          <p:cNvSpPr/>
          <p:nvPr/>
        </p:nvSpPr>
        <p:spPr>
          <a:xfrm>
            <a:off x="731520" y="1097280"/>
            <a:ext cx="2286000" cy="3810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46607" y="1554480"/>
            <a:ext cx="3383280" cy="2103120"/>
          </a:xfrm>
          <a:prstGeom prst="roundRect">
            <a:avLst/>
          </a:prstGeom>
          <a:solidFill>
            <a:srgbClr val="1A253C"/>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29487" y="1691640"/>
            <a:ext cx="457200" cy="457200"/>
          </a:xfrm>
          <a:prstGeom prst="rect">
            <a:avLst/>
          </a:prstGeom>
          <a:noFill/>
        </p:spPr>
        <p:txBody>
          <a:bodyPr wrap="square">
            <a:spAutoFit/>
          </a:bodyPr>
          <a:lstStyle/>
          <a:p>
            <a:pPr algn="l">
              <a:defRPr sz="2600" b="0">
                <a:solidFill>
                  <a:srgbClr val="FFFFFF"/>
                </a:solidFill>
                <a:latin typeface="Calibri"/>
              </a:defRPr>
            </a:pPr>
            <a:r>
              <a:t>🔍</a:t>
            </a:r>
          </a:p>
        </p:txBody>
      </p:sp>
      <p:sp>
        <p:nvSpPr>
          <p:cNvPr id="6" name="TextBox 5"/>
          <p:cNvSpPr txBox="1"/>
          <p:nvPr/>
        </p:nvSpPr>
        <p:spPr>
          <a:xfrm>
            <a:off x="1478127" y="1737360"/>
            <a:ext cx="2468880" cy="320040"/>
          </a:xfrm>
          <a:prstGeom prst="rect">
            <a:avLst/>
          </a:prstGeom>
          <a:noFill/>
        </p:spPr>
        <p:txBody>
          <a:bodyPr wrap="square">
            <a:spAutoFit/>
          </a:bodyPr>
          <a:lstStyle/>
          <a:p>
            <a:pPr algn="l">
              <a:defRPr sz="1700" b="1">
                <a:solidFill>
                  <a:srgbClr val="38BDF8"/>
                </a:solidFill>
                <a:latin typeface="Calibri"/>
              </a:defRPr>
            </a:pPr>
            <a:r>
              <a:t>Smart Search</a:t>
            </a:r>
          </a:p>
        </p:txBody>
      </p:sp>
      <p:sp>
        <p:nvSpPr>
          <p:cNvPr id="7" name="TextBox 6"/>
          <p:cNvSpPr txBox="1"/>
          <p:nvPr/>
        </p:nvSpPr>
        <p:spPr>
          <a:xfrm>
            <a:off x="975207" y="2240280"/>
            <a:ext cx="2926080" cy="1280160"/>
          </a:xfrm>
          <a:prstGeom prst="rect">
            <a:avLst/>
          </a:prstGeom>
          <a:noFill/>
        </p:spPr>
        <p:txBody>
          <a:bodyPr wrap="square">
            <a:spAutoFit/>
          </a:bodyPr>
          <a:lstStyle/>
          <a:p>
            <a:pPr algn="l">
              <a:defRPr sz="1200" b="0">
                <a:solidFill>
                  <a:srgbClr val="CBD5E1"/>
                </a:solidFill>
                <a:latin typeface="Calibri"/>
              </a:defRPr>
            </a:pPr>
            <a:r>
              <a:t>Auto-completing search with debounced API calls. Filters movies as users type, returning up to 50 results.</a:t>
            </a:r>
          </a:p>
        </p:txBody>
      </p:sp>
      <p:sp>
        <p:nvSpPr>
          <p:cNvPr id="8" name="Rounded Rectangle 7"/>
          <p:cNvSpPr/>
          <p:nvPr/>
        </p:nvSpPr>
        <p:spPr>
          <a:xfrm>
            <a:off x="4404207" y="1554480"/>
            <a:ext cx="3383280" cy="2103120"/>
          </a:xfrm>
          <a:prstGeom prst="roundRect">
            <a:avLst/>
          </a:prstGeom>
          <a:solidFill>
            <a:srgbClr val="1A253C"/>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87087" y="1691640"/>
            <a:ext cx="457200" cy="457200"/>
          </a:xfrm>
          <a:prstGeom prst="rect">
            <a:avLst/>
          </a:prstGeom>
          <a:noFill/>
        </p:spPr>
        <p:txBody>
          <a:bodyPr wrap="square">
            <a:spAutoFit/>
          </a:bodyPr>
          <a:lstStyle/>
          <a:p>
            <a:pPr algn="l">
              <a:defRPr sz="2600" b="0">
                <a:solidFill>
                  <a:srgbClr val="FFFFFF"/>
                </a:solidFill>
                <a:latin typeface="Calibri"/>
              </a:defRPr>
            </a:pPr>
            <a:r>
              <a:t>🤖</a:t>
            </a:r>
          </a:p>
        </p:txBody>
      </p:sp>
      <p:sp>
        <p:nvSpPr>
          <p:cNvPr id="10" name="TextBox 9"/>
          <p:cNvSpPr txBox="1"/>
          <p:nvPr/>
        </p:nvSpPr>
        <p:spPr>
          <a:xfrm>
            <a:off x="5135727" y="1737360"/>
            <a:ext cx="2468880" cy="320040"/>
          </a:xfrm>
          <a:prstGeom prst="rect">
            <a:avLst/>
          </a:prstGeom>
          <a:noFill/>
        </p:spPr>
        <p:txBody>
          <a:bodyPr wrap="square">
            <a:spAutoFit/>
          </a:bodyPr>
          <a:lstStyle/>
          <a:p>
            <a:pPr algn="l">
              <a:defRPr sz="1700" b="1">
                <a:solidFill>
                  <a:srgbClr val="A78BFA"/>
                </a:solidFill>
                <a:latin typeface="Calibri"/>
              </a:defRPr>
            </a:pPr>
            <a:r>
              <a:t>Explainable AI</a:t>
            </a:r>
          </a:p>
        </p:txBody>
      </p:sp>
      <p:sp>
        <p:nvSpPr>
          <p:cNvPr id="11" name="TextBox 10"/>
          <p:cNvSpPr txBox="1"/>
          <p:nvPr/>
        </p:nvSpPr>
        <p:spPr>
          <a:xfrm>
            <a:off x="4632807" y="2240280"/>
            <a:ext cx="2926080" cy="1280160"/>
          </a:xfrm>
          <a:prstGeom prst="rect">
            <a:avLst/>
          </a:prstGeom>
          <a:noFill/>
        </p:spPr>
        <p:txBody>
          <a:bodyPr wrap="square">
            <a:spAutoFit/>
          </a:bodyPr>
          <a:lstStyle/>
          <a:p>
            <a:pPr algn="l">
              <a:defRPr sz="1200" b="0">
                <a:solidFill>
                  <a:srgbClr val="CBD5E1"/>
                </a:solidFill>
                <a:latin typeface="Calibri"/>
              </a:defRPr>
            </a:pPr>
            <a:r>
              <a:t>Each recommendation includes human-readable explanations: shared genres, collaborative signals, and latent feature patterns.</a:t>
            </a:r>
          </a:p>
        </p:txBody>
      </p:sp>
      <p:sp>
        <p:nvSpPr>
          <p:cNvPr id="12" name="Rounded Rectangle 11"/>
          <p:cNvSpPr/>
          <p:nvPr/>
        </p:nvSpPr>
        <p:spPr>
          <a:xfrm>
            <a:off x="8061807" y="1554480"/>
            <a:ext cx="3383280" cy="2103120"/>
          </a:xfrm>
          <a:prstGeom prst="roundRect">
            <a:avLst/>
          </a:prstGeom>
          <a:solidFill>
            <a:srgbClr val="1A253C"/>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687" y="1691640"/>
            <a:ext cx="457200" cy="457200"/>
          </a:xfrm>
          <a:prstGeom prst="rect">
            <a:avLst/>
          </a:prstGeom>
          <a:noFill/>
        </p:spPr>
        <p:txBody>
          <a:bodyPr wrap="square">
            <a:spAutoFit/>
          </a:bodyPr>
          <a:lstStyle/>
          <a:p>
            <a:pPr algn="l">
              <a:defRPr sz="2600" b="0">
                <a:solidFill>
                  <a:srgbClr val="FFFFFF"/>
                </a:solidFill>
                <a:latin typeface="Calibri"/>
              </a:defRPr>
            </a:pPr>
            <a:r>
              <a:t>🕸️</a:t>
            </a:r>
          </a:p>
        </p:txBody>
      </p:sp>
      <p:sp>
        <p:nvSpPr>
          <p:cNvPr id="14" name="TextBox 13"/>
          <p:cNvSpPr txBox="1"/>
          <p:nvPr/>
        </p:nvSpPr>
        <p:spPr>
          <a:xfrm>
            <a:off x="8793327" y="1737360"/>
            <a:ext cx="2468880" cy="320040"/>
          </a:xfrm>
          <a:prstGeom prst="rect">
            <a:avLst/>
          </a:prstGeom>
          <a:noFill/>
        </p:spPr>
        <p:txBody>
          <a:bodyPr wrap="square">
            <a:spAutoFit/>
          </a:bodyPr>
          <a:lstStyle/>
          <a:p>
            <a:pPr algn="l">
              <a:defRPr sz="1700" b="1">
                <a:solidFill>
                  <a:srgbClr val="34D399"/>
                </a:solidFill>
                <a:latin typeface="Calibri"/>
              </a:defRPr>
            </a:pPr>
            <a:r>
              <a:t>Similarity Graph</a:t>
            </a:r>
          </a:p>
        </p:txBody>
      </p:sp>
      <p:sp>
        <p:nvSpPr>
          <p:cNvPr id="15" name="TextBox 14"/>
          <p:cNvSpPr txBox="1"/>
          <p:nvPr/>
        </p:nvSpPr>
        <p:spPr>
          <a:xfrm>
            <a:off x="8290407" y="2240280"/>
            <a:ext cx="2926080" cy="1280160"/>
          </a:xfrm>
          <a:prstGeom prst="rect">
            <a:avLst/>
          </a:prstGeom>
          <a:noFill/>
        </p:spPr>
        <p:txBody>
          <a:bodyPr wrap="square">
            <a:spAutoFit/>
          </a:bodyPr>
          <a:lstStyle/>
          <a:p>
            <a:pPr algn="l">
              <a:defRPr sz="1200" b="0">
                <a:solidFill>
                  <a:srgbClr val="CBD5E1"/>
                </a:solidFill>
                <a:latin typeface="Calibri"/>
              </a:defRPr>
            </a:pPr>
            <a:r>
              <a:t>Interactive D3 force-directed network visualization. Nodes represent movies, edges show similarity weights.</a:t>
            </a:r>
          </a:p>
        </p:txBody>
      </p:sp>
      <p:sp>
        <p:nvSpPr>
          <p:cNvPr id="16" name="Rounded Rectangle 15"/>
          <p:cNvSpPr/>
          <p:nvPr/>
        </p:nvSpPr>
        <p:spPr>
          <a:xfrm>
            <a:off x="746607" y="3931920"/>
            <a:ext cx="3383280" cy="2103120"/>
          </a:xfrm>
          <a:prstGeom prst="roundRect">
            <a:avLst/>
          </a:prstGeom>
          <a:solidFill>
            <a:srgbClr val="1A253C"/>
          </a:solidFill>
          <a:ln w="12700">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9487" y="4069080"/>
            <a:ext cx="457200" cy="457200"/>
          </a:xfrm>
          <a:prstGeom prst="rect">
            <a:avLst/>
          </a:prstGeom>
          <a:noFill/>
        </p:spPr>
        <p:txBody>
          <a:bodyPr wrap="square">
            <a:spAutoFit/>
          </a:bodyPr>
          <a:lstStyle/>
          <a:p>
            <a:pPr algn="l">
              <a:defRPr sz="2600" b="0">
                <a:solidFill>
                  <a:srgbClr val="FFFFFF"/>
                </a:solidFill>
                <a:latin typeface="Calibri"/>
              </a:defRPr>
            </a:pPr>
            <a:r>
              <a:t>🖼️</a:t>
            </a:r>
          </a:p>
        </p:txBody>
      </p:sp>
      <p:sp>
        <p:nvSpPr>
          <p:cNvPr id="18" name="TextBox 17"/>
          <p:cNvSpPr txBox="1"/>
          <p:nvPr/>
        </p:nvSpPr>
        <p:spPr>
          <a:xfrm>
            <a:off x="1478127" y="4114800"/>
            <a:ext cx="2468880" cy="320040"/>
          </a:xfrm>
          <a:prstGeom prst="rect">
            <a:avLst/>
          </a:prstGeom>
          <a:noFill/>
        </p:spPr>
        <p:txBody>
          <a:bodyPr wrap="square">
            <a:spAutoFit/>
          </a:bodyPr>
          <a:lstStyle/>
          <a:p>
            <a:pPr algn="l">
              <a:defRPr sz="1700" b="1">
                <a:solidFill>
                  <a:srgbClr val="FBBF24"/>
                </a:solidFill>
                <a:latin typeface="Calibri"/>
              </a:defRPr>
            </a:pPr>
            <a:r>
              <a:t>Auto Posters</a:t>
            </a:r>
          </a:p>
        </p:txBody>
      </p:sp>
      <p:sp>
        <p:nvSpPr>
          <p:cNvPr id="19" name="TextBox 18"/>
          <p:cNvSpPr txBox="1"/>
          <p:nvPr/>
        </p:nvSpPr>
        <p:spPr>
          <a:xfrm>
            <a:off x="975207" y="4617720"/>
            <a:ext cx="2926080" cy="1280160"/>
          </a:xfrm>
          <a:prstGeom prst="rect">
            <a:avLst/>
          </a:prstGeom>
          <a:noFill/>
        </p:spPr>
        <p:txBody>
          <a:bodyPr wrap="square">
            <a:spAutoFit/>
          </a:bodyPr>
          <a:lstStyle/>
          <a:p>
            <a:pPr algn="l">
              <a:defRPr sz="1200" b="0">
                <a:solidFill>
                  <a:srgbClr val="CBD5E1"/>
                </a:solidFill>
                <a:latin typeface="Calibri"/>
              </a:defRPr>
            </a:pPr>
            <a:r>
              <a:t>Movie posters are fetched automatically from Wikipedia's REST API. No API key needed. Results are LRU-cached (2000 entries).</a:t>
            </a:r>
          </a:p>
        </p:txBody>
      </p:sp>
      <p:sp>
        <p:nvSpPr>
          <p:cNvPr id="20" name="Rounded Rectangle 19"/>
          <p:cNvSpPr/>
          <p:nvPr/>
        </p:nvSpPr>
        <p:spPr>
          <a:xfrm>
            <a:off x="4404207" y="3931920"/>
            <a:ext cx="3383280" cy="2103120"/>
          </a:xfrm>
          <a:prstGeom prst="roundRect">
            <a:avLst/>
          </a:prstGeom>
          <a:solidFill>
            <a:srgbClr val="1A253C"/>
          </a:solidFill>
          <a:ln w="12700">
            <a:solidFill>
              <a:srgbClr val="FB71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87087" y="4069080"/>
            <a:ext cx="457200" cy="457200"/>
          </a:xfrm>
          <a:prstGeom prst="rect">
            <a:avLst/>
          </a:prstGeom>
          <a:noFill/>
        </p:spPr>
        <p:txBody>
          <a:bodyPr wrap="square">
            <a:spAutoFit/>
          </a:bodyPr>
          <a:lstStyle/>
          <a:p>
            <a:pPr algn="l">
              <a:defRPr sz="2600" b="0">
                <a:solidFill>
                  <a:srgbClr val="FFFFFF"/>
                </a:solidFill>
                <a:latin typeface="Calibri"/>
              </a:defRPr>
            </a:pPr>
            <a:r>
              <a:t>💡</a:t>
            </a:r>
          </a:p>
        </p:txBody>
      </p:sp>
      <p:sp>
        <p:nvSpPr>
          <p:cNvPr id="22" name="TextBox 21"/>
          <p:cNvSpPr txBox="1"/>
          <p:nvPr/>
        </p:nvSpPr>
        <p:spPr>
          <a:xfrm>
            <a:off x="5135727" y="4114800"/>
            <a:ext cx="2468880" cy="320040"/>
          </a:xfrm>
          <a:prstGeom prst="rect">
            <a:avLst/>
          </a:prstGeom>
          <a:noFill/>
        </p:spPr>
        <p:txBody>
          <a:bodyPr wrap="square">
            <a:spAutoFit/>
          </a:bodyPr>
          <a:lstStyle/>
          <a:p>
            <a:pPr algn="l">
              <a:defRPr sz="1700" b="1">
                <a:solidFill>
                  <a:srgbClr val="FB7185"/>
                </a:solidFill>
                <a:latin typeface="Calibri"/>
              </a:defRPr>
            </a:pPr>
            <a:r>
              <a:t>Personalized Picks</a:t>
            </a:r>
          </a:p>
        </p:txBody>
      </p:sp>
      <p:sp>
        <p:nvSpPr>
          <p:cNvPr id="23" name="TextBox 22"/>
          <p:cNvSpPr txBox="1"/>
          <p:nvPr/>
        </p:nvSpPr>
        <p:spPr>
          <a:xfrm>
            <a:off x="4632807" y="4617720"/>
            <a:ext cx="2926080" cy="1280160"/>
          </a:xfrm>
          <a:prstGeom prst="rect">
            <a:avLst/>
          </a:prstGeom>
          <a:noFill/>
        </p:spPr>
        <p:txBody>
          <a:bodyPr wrap="square">
            <a:spAutoFit/>
          </a:bodyPr>
          <a:lstStyle/>
          <a:p>
            <a:pPr algn="l">
              <a:defRPr sz="1200" b="0">
                <a:solidFill>
                  <a:srgbClr val="CBD5E1"/>
                </a:solidFill>
                <a:latin typeface="Calibri"/>
              </a:defRPr>
            </a:pPr>
            <a:r>
              <a:t>Input multiple favorite movies to get a tailored recommendation list based on averaged hybrid similarity vectors.</a:t>
            </a:r>
          </a:p>
        </p:txBody>
      </p:sp>
      <p:sp>
        <p:nvSpPr>
          <p:cNvPr id="24" name="Rounded Rectangle 23"/>
          <p:cNvSpPr/>
          <p:nvPr/>
        </p:nvSpPr>
        <p:spPr>
          <a:xfrm>
            <a:off x="8061807" y="3931920"/>
            <a:ext cx="3383280" cy="2103120"/>
          </a:xfrm>
          <a:prstGeom prst="roundRect">
            <a:avLst/>
          </a:prstGeom>
          <a:solidFill>
            <a:srgbClr val="1A253C"/>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44687" y="4069080"/>
            <a:ext cx="457200" cy="457200"/>
          </a:xfrm>
          <a:prstGeom prst="rect">
            <a:avLst/>
          </a:prstGeom>
          <a:noFill/>
        </p:spPr>
        <p:txBody>
          <a:bodyPr wrap="square">
            <a:spAutoFit/>
          </a:bodyPr>
          <a:lstStyle/>
          <a:p>
            <a:pPr algn="l">
              <a:defRPr sz="2600" b="0">
                <a:solidFill>
                  <a:srgbClr val="FFFFFF"/>
                </a:solidFill>
                <a:latin typeface="Calibri"/>
              </a:defRPr>
            </a:pPr>
            <a:r>
              <a:t>📊</a:t>
            </a:r>
          </a:p>
        </p:txBody>
      </p:sp>
      <p:sp>
        <p:nvSpPr>
          <p:cNvPr id="26" name="TextBox 25"/>
          <p:cNvSpPr txBox="1"/>
          <p:nvPr/>
        </p:nvSpPr>
        <p:spPr>
          <a:xfrm>
            <a:off x="8793327" y="4114800"/>
            <a:ext cx="2468880" cy="320040"/>
          </a:xfrm>
          <a:prstGeom prst="rect">
            <a:avLst/>
          </a:prstGeom>
          <a:noFill/>
        </p:spPr>
        <p:txBody>
          <a:bodyPr wrap="square">
            <a:spAutoFit/>
          </a:bodyPr>
          <a:lstStyle/>
          <a:p>
            <a:pPr algn="l">
              <a:defRPr sz="1700" b="1">
                <a:solidFill>
                  <a:srgbClr val="38BDF8"/>
                </a:solidFill>
                <a:latin typeface="Calibri"/>
              </a:defRPr>
            </a:pPr>
            <a:r>
              <a:t>Metrics Dashboard</a:t>
            </a:r>
          </a:p>
        </p:txBody>
      </p:sp>
      <p:sp>
        <p:nvSpPr>
          <p:cNvPr id="27" name="TextBox 26"/>
          <p:cNvSpPr txBox="1"/>
          <p:nvPr/>
        </p:nvSpPr>
        <p:spPr>
          <a:xfrm>
            <a:off x="8290407" y="4617720"/>
            <a:ext cx="2926080" cy="1280160"/>
          </a:xfrm>
          <a:prstGeom prst="rect">
            <a:avLst/>
          </a:prstGeom>
          <a:noFill/>
        </p:spPr>
        <p:txBody>
          <a:bodyPr wrap="square">
            <a:spAutoFit/>
          </a:bodyPr>
          <a:lstStyle/>
          <a:p>
            <a:pPr algn="l">
              <a:defRPr sz="1200" b="0">
                <a:solidFill>
                  <a:srgbClr val="CBD5E1"/>
                </a:solidFill>
                <a:latin typeface="Calibri"/>
              </a:defRPr>
            </a:pPr>
            <a:r>
              <a:t>View real-time evaluation metrics: RMSE, MAE, Precision@10, and Recall@10 from an 80/20 train-test split.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0" y="0"/>
            <a:ext cx="12191695" cy="54864"/>
          </a:xfrm>
          <a:prstGeom prst="round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9144000" cy="640080"/>
          </a:xfrm>
          <a:prstGeom prst="rect">
            <a:avLst/>
          </a:prstGeom>
          <a:noFill/>
        </p:spPr>
        <p:txBody>
          <a:bodyPr wrap="square">
            <a:spAutoFit/>
          </a:bodyPr>
          <a:lstStyle/>
          <a:p>
            <a:pPr algn="l">
              <a:defRPr sz="3600" b="1">
                <a:solidFill>
                  <a:srgbClr val="FFFFFF"/>
                </a:solidFill>
                <a:latin typeface="Calibri"/>
              </a:defRPr>
            </a:pPr>
            <a:r>
              <a:t>10  Conclusion &amp; Future Work</a:t>
            </a:r>
          </a:p>
        </p:txBody>
      </p:sp>
      <p:sp>
        <p:nvSpPr>
          <p:cNvPr id="4" name="Rectangle 3"/>
          <p:cNvSpPr/>
          <p:nvPr/>
        </p:nvSpPr>
        <p:spPr>
          <a:xfrm>
            <a:off x="731520" y="1097280"/>
            <a:ext cx="2743200" cy="38100"/>
          </a:xfrm>
          <a:prstGeom prst="rect">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5303520" cy="3200400"/>
          </a:xfrm>
          <a:prstGeom prst="roundRect">
            <a:avLst/>
          </a:prstGeom>
          <a:solidFill>
            <a:srgbClr val="1A253C"/>
          </a:solidFill>
          <a:ln w="1905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91640"/>
            <a:ext cx="4572000" cy="365760"/>
          </a:xfrm>
          <a:prstGeom prst="rect">
            <a:avLst/>
          </a:prstGeom>
          <a:noFill/>
        </p:spPr>
        <p:txBody>
          <a:bodyPr wrap="square">
            <a:spAutoFit/>
          </a:bodyPr>
          <a:lstStyle/>
          <a:p>
            <a:pPr algn="l">
              <a:defRPr sz="2000" b="1">
                <a:solidFill>
                  <a:srgbClr val="38BDF8"/>
                </a:solidFill>
                <a:latin typeface="Calibri"/>
              </a:defRPr>
            </a:pPr>
            <a:r>
              <a:t>✅ Conclusion</a:t>
            </a:r>
          </a:p>
        </p:txBody>
      </p:sp>
      <p:sp>
        <p:nvSpPr>
          <p:cNvPr id="7" name="TextBox 6"/>
          <p:cNvSpPr txBox="1"/>
          <p:nvPr/>
        </p:nvSpPr>
        <p:spPr>
          <a:xfrm>
            <a:off x="1005840" y="2194560"/>
            <a:ext cx="4846320" cy="2286000"/>
          </a:xfrm>
          <a:prstGeom prst="rect">
            <a:avLst/>
          </a:prstGeom>
          <a:noFill/>
        </p:spPr>
        <p:txBody>
          <a:bodyPr wrap="square">
            <a:spAutoFit/>
          </a:bodyPr>
          <a:lstStyle/>
          <a:p>
            <a:pPr>
              <a:spcAft>
                <a:spcPts val="600"/>
              </a:spcAft>
              <a:defRPr sz="1300">
                <a:solidFill>
                  <a:srgbClr val="CBD5E1"/>
                </a:solidFill>
                <a:latin typeface="Calibri"/>
              </a:defRPr>
            </a:pPr>
            <a:r>
              <a:t>• Successfully built a hybrid recommendation engine combining three ML approaches</a:t>
            </a:r>
          </a:p>
          <a:p>
            <a:pPr>
              <a:spcAft>
                <a:spcPts val="600"/>
              </a:spcAft>
              <a:defRPr sz="1300">
                <a:solidFill>
                  <a:srgbClr val="CBD5E1"/>
                </a:solidFill>
                <a:latin typeface="Calibri"/>
              </a:defRPr>
            </a:pPr>
            <a:r>
              <a:t>• Collaborative Filtering captures user preference patterns</a:t>
            </a:r>
          </a:p>
          <a:p>
            <a:pPr>
              <a:spcAft>
                <a:spcPts val="600"/>
              </a:spcAft>
              <a:defRPr sz="1300">
                <a:solidFill>
                  <a:srgbClr val="CBD5E1"/>
                </a:solidFill>
                <a:latin typeface="Calibri"/>
              </a:defRPr>
            </a:pPr>
            <a:r>
              <a:t>• SVD extracts meaningful latent features from sparse rating data</a:t>
            </a:r>
          </a:p>
          <a:p>
            <a:pPr>
              <a:spcAft>
                <a:spcPts val="600"/>
              </a:spcAft>
              <a:defRPr sz="1300">
                <a:solidFill>
                  <a:srgbClr val="CBD5E1"/>
                </a:solidFill>
                <a:latin typeface="Calibri"/>
              </a:defRPr>
            </a:pPr>
            <a:r>
              <a:t>• Content-Based Filtering ensures genre relevance</a:t>
            </a:r>
          </a:p>
          <a:p>
            <a:pPr>
              <a:spcAft>
                <a:spcPts val="600"/>
              </a:spcAft>
              <a:defRPr sz="1300">
                <a:solidFill>
                  <a:srgbClr val="CBD5E1"/>
                </a:solidFill>
                <a:latin typeface="Calibri"/>
              </a:defRPr>
            </a:pPr>
            <a:r>
              <a:t>• Full-stack application with polished, responsive UI</a:t>
            </a:r>
          </a:p>
          <a:p>
            <a:pPr>
              <a:spcAft>
                <a:spcPts val="600"/>
              </a:spcAft>
              <a:defRPr sz="1300">
                <a:solidFill>
                  <a:srgbClr val="CBD5E1"/>
                </a:solidFill>
                <a:latin typeface="Calibri"/>
              </a:defRPr>
            </a:pPr>
            <a:r>
              <a:t>• Explainable AI enhances user trust and transparency</a:t>
            </a:r>
          </a:p>
        </p:txBody>
      </p:sp>
      <p:sp>
        <p:nvSpPr>
          <p:cNvPr id="8" name="Rounded Rectangle 7"/>
          <p:cNvSpPr/>
          <p:nvPr/>
        </p:nvSpPr>
        <p:spPr>
          <a:xfrm>
            <a:off x="6400800" y="1554480"/>
            <a:ext cx="5029200" cy="3200400"/>
          </a:xfrm>
          <a:prstGeom prst="roundRect">
            <a:avLst/>
          </a:prstGeom>
          <a:solidFill>
            <a:srgbClr val="1A253C"/>
          </a:solidFill>
          <a:ln w="19050">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1691640"/>
            <a:ext cx="4572000" cy="365760"/>
          </a:xfrm>
          <a:prstGeom prst="rect">
            <a:avLst/>
          </a:prstGeom>
          <a:noFill/>
        </p:spPr>
        <p:txBody>
          <a:bodyPr wrap="square">
            <a:spAutoFit/>
          </a:bodyPr>
          <a:lstStyle/>
          <a:p>
            <a:pPr algn="l">
              <a:defRPr sz="2000" b="1">
                <a:solidFill>
                  <a:srgbClr val="FBBF24"/>
                </a:solidFill>
                <a:latin typeface="Calibri"/>
              </a:defRPr>
            </a:pPr>
            <a:r>
              <a:t>🔮 Future Work</a:t>
            </a:r>
          </a:p>
        </p:txBody>
      </p:sp>
      <p:sp>
        <p:nvSpPr>
          <p:cNvPr id="10" name="TextBox 9"/>
          <p:cNvSpPr txBox="1"/>
          <p:nvPr/>
        </p:nvSpPr>
        <p:spPr>
          <a:xfrm>
            <a:off x="6675120" y="2194560"/>
            <a:ext cx="4572000" cy="2286000"/>
          </a:xfrm>
          <a:prstGeom prst="rect">
            <a:avLst/>
          </a:prstGeom>
          <a:noFill/>
        </p:spPr>
        <p:txBody>
          <a:bodyPr wrap="square">
            <a:spAutoFit/>
          </a:bodyPr>
          <a:lstStyle/>
          <a:p>
            <a:pPr>
              <a:spcAft>
                <a:spcPts val="600"/>
              </a:spcAft>
              <a:defRPr sz="1300">
                <a:solidFill>
                  <a:srgbClr val="CBD5E1"/>
                </a:solidFill>
                <a:latin typeface="Calibri"/>
              </a:defRPr>
            </a:pPr>
            <a:r>
              <a:t>• Integrate deep learning models (Neural Collaborative Filtering)</a:t>
            </a:r>
          </a:p>
          <a:p>
            <a:pPr>
              <a:spcAft>
                <a:spcPts val="600"/>
              </a:spcAft>
              <a:defRPr sz="1300">
                <a:solidFill>
                  <a:srgbClr val="CBD5E1"/>
                </a:solidFill>
                <a:latin typeface="Calibri"/>
              </a:defRPr>
            </a:pPr>
            <a:r>
              <a:t>• Add user authentication and persistent watch history</a:t>
            </a:r>
          </a:p>
          <a:p>
            <a:pPr>
              <a:spcAft>
                <a:spcPts val="600"/>
              </a:spcAft>
              <a:defRPr sz="1300">
                <a:solidFill>
                  <a:srgbClr val="CBD5E1"/>
                </a:solidFill>
                <a:latin typeface="Calibri"/>
              </a:defRPr>
            </a:pPr>
            <a:r>
              <a:t>• Implement real-time rating feedback loop</a:t>
            </a:r>
          </a:p>
          <a:p>
            <a:pPr>
              <a:spcAft>
                <a:spcPts val="600"/>
              </a:spcAft>
              <a:defRPr sz="1300">
                <a:solidFill>
                  <a:srgbClr val="CBD5E1"/>
                </a:solidFill>
                <a:latin typeface="Calibri"/>
              </a:defRPr>
            </a:pPr>
            <a:r>
              <a:t>• Use TMDB API for richer metadata (cast, directors, trailers)</a:t>
            </a:r>
          </a:p>
          <a:p>
            <a:pPr>
              <a:spcAft>
                <a:spcPts val="600"/>
              </a:spcAft>
              <a:defRPr sz="1300">
                <a:solidFill>
                  <a:srgbClr val="CBD5E1"/>
                </a:solidFill>
                <a:latin typeface="Calibri"/>
              </a:defRPr>
            </a:pPr>
            <a:r>
              <a:t>• Deploy to cloud (AWS / Vercel) for production use</a:t>
            </a:r>
          </a:p>
          <a:p>
            <a:pPr>
              <a:spcAft>
                <a:spcPts val="600"/>
              </a:spcAft>
              <a:defRPr sz="1300">
                <a:solidFill>
                  <a:srgbClr val="CBD5E1"/>
                </a:solidFill>
                <a:latin typeface="Calibri"/>
              </a:defRPr>
            </a:pPr>
            <a:r>
              <a:t>• Add A/B testing framework for algorithm comparison</a:t>
            </a:r>
          </a:p>
        </p:txBody>
      </p:sp>
      <p:sp>
        <p:nvSpPr>
          <p:cNvPr id="11" name="TextBox 10"/>
          <p:cNvSpPr txBox="1"/>
          <p:nvPr/>
        </p:nvSpPr>
        <p:spPr>
          <a:xfrm>
            <a:off x="1828800" y="5303520"/>
            <a:ext cx="8503920" cy="640080"/>
          </a:xfrm>
          <a:prstGeom prst="rect">
            <a:avLst/>
          </a:prstGeom>
          <a:noFill/>
        </p:spPr>
        <p:txBody>
          <a:bodyPr wrap="square">
            <a:spAutoFit/>
          </a:bodyPr>
          <a:lstStyle/>
          <a:p>
            <a:pPr algn="ctr">
              <a:defRPr sz="3800" b="1">
                <a:solidFill>
                  <a:srgbClr val="FFFFFF"/>
                </a:solidFill>
                <a:latin typeface="Calibri"/>
              </a:defRPr>
            </a:pPr>
            <a:r>
              <a:t>Thank You! 🎬</a:t>
            </a:r>
          </a:p>
        </p:txBody>
      </p:sp>
      <p:sp>
        <p:nvSpPr>
          <p:cNvPr id="12" name="Rectangle 11"/>
          <p:cNvSpPr/>
          <p:nvPr/>
        </p:nvSpPr>
        <p:spPr>
          <a:xfrm>
            <a:off x="4572000" y="5943600"/>
            <a:ext cx="3017520" cy="381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28800" y="6126480"/>
            <a:ext cx="8503920" cy="457200"/>
          </a:xfrm>
          <a:prstGeom prst="rect">
            <a:avLst/>
          </a:prstGeom>
          <a:noFill/>
        </p:spPr>
        <p:txBody>
          <a:bodyPr wrap="square">
            <a:spAutoFit/>
          </a:bodyPr>
          <a:lstStyle/>
          <a:p>
            <a:pPr algn="ctr">
              <a:defRPr sz="1800" b="0">
                <a:solidFill>
                  <a:srgbClr val="94A3B8"/>
                </a:solidFill>
                <a:latin typeface="Calibri"/>
              </a:defRPr>
            </a:pPr>
            <a:r>
              <a:t>Questions &amp; Discussion</a:t>
            </a:r>
          </a:p>
        </p:txBody>
      </p:sp>
      <p:sp>
        <p:nvSpPr>
          <p:cNvPr id="14" name="Rounded Rectangle 13"/>
          <p:cNvSpPr/>
          <p:nvPr/>
        </p:nvSpPr>
        <p:spPr>
          <a:xfrm>
            <a:off x="0" y="6803136"/>
            <a:ext cx="12191695" cy="54864"/>
          </a:xfrm>
          <a:prstGeom prst="round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